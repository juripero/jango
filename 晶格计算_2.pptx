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Source Code Pro"/>
      <p:regular r:id="rId30"/>
      <p:bold r:id="rId31"/>
      <p:italic r:id="rId32"/>
      <p:boldItalic r:id="rId33"/>
    </p:embeddedFont>
    <p:embeddedFont>
      <p:font typeface="Oswa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hl6WlCV15HzaJZXCmNj3t6Y3Mk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slide" Target="slides/slide18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urceCodePro-bold.fntdata"/><Relationship Id="rId30" Type="http://schemas.openxmlformats.org/officeDocument/2006/relationships/font" Target="fonts/SourceCodePro-regular.fntdata"/><Relationship Id="rId11" Type="http://schemas.openxmlformats.org/officeDocument/2006/relationships/slide" Target="slides/slide4.xml"/><Relationship Id="rId33" Type="http://schemas.openxmlformats.org/officeDocument/2006/relationships/font" Target="fonts/SourceCodePro-boldItalic.fntdata"/><Relationship Id="rId10" Type="http://schemas.openxmlformats.org/officeDocument/2006/relationships/slide" Target="slides/slide3.xml"/><Relationship Id="rId32" Type="http://schemas.openxmlformats.org/officeDocument/2006/relationships/font" Target="fonts/SourceCodePro-italic.fntdata"/><Relationship Id="rId13" Type="http://schemas.openxmlformats.org/officeDocument/2006/relationships/slide" Target="slides/slide6.xml"/><Relationship Id="rId35" Type="http://schemas.openxmlformats.org/officeDocument/2006/relationships/font" Target="fonts/Oswald-bold.fntdata"/><Relationship Id="rId12" Type="http://schemas.openxmlformats.org/officeDocument/2006/relationships/slide" Target="slides/slide5.xml"/><Relationship Id="rId34" Type="http://schemas.openxmlformats.org/officeDocument/2006/relationships/font" Target="fonts/Oswald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591bcd05_0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bf591bcd0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f591bcd05_0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bf591bcd0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f591bcd05_0_2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bf591bcd0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f591bcd05_0_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bf591bcd0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3bbc9c988_1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a3bbc9c98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bf591bcd05_0_4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bf591bcd0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5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20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21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1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23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23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5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25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27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f591bcd05_0_2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9" name="Google Shape;109;g3bf591bcd05_0_2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bf591bcd05_0_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f591bcd05_0_2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g3bf591bcd05_0_2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g3bf591bcd05_0_2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f591bcd05_0_2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7" name="Google Shape;117;g3bf591bcd05_0_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591bcd05_0_2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g3bf591bcd05_0_2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g3bf591bcd05_0_2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g3bf591bcd05_0_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f591bcd05_0_2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g3bf591bcd05_0_2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f591bcd05_0_27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" name="Google Shape;128;g3bf591bcd05_0_27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g3bf591bcd05_0_2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f591bcd05_0_2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2" name="Google Shape;132;g3bf591bcd05_0_2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f591bcd05_0_2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f591bcd05_0_2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6" name="Google Shape;136;g3bf591bcd05_0_2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7" name="Google Shape;137;g3bf591bcd05_0_2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g3bf591bcd05_0_2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f591bcd05_0_28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1" name="Google Shape;141;g3bf591bcd05_0_2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591bcd05_0_2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" name="Google Shape;144;g3bf591bcd05_0_29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g3bf591bcd05_0_2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f591bcd05_0_2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f591bcd05_0_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bf591bcd05_0_2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bf591bcd05_0_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1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47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42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56.png"/><Relationship Id="rId5" Type="http://schemas.openxmlformats.org/officeDocument/2006/relationships/image" Target="../media/image31.png"/><Relationship Id="rId6" Type="http://schemas.openxmlformats.org/officeDocument/2006/relationships/image" Target="../media/image53.png"/><Relationship Id="rId7" Type="http://schemas.openxmlformats.org/officeDocument/2006/relationships/image" Target="../media/image59.png"/><Relationship Id="rId8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67"/>
              <a:buNone/>
            </a:pPr>
            <a:r>
              <a:rPr lang="en"/>
              <a:t>晶格计算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67"/>
              <a:buNone/>
            </a:pPr>
            <a:r>
              <a:rPr lang="en" sz="2500"/>
              <a:t>Revolutionary All Flash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idx="4294967295" type="title"/>
          </p:nvPr>
        </p:nvSpPr>
        <p:spPr>
          <a:xfrm>
            <a:off x="159100" y="-359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计算体系和架构的演化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799" y="1408323"/>
            <a:ext cx="702655" cy="5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"/>
          <p:cNvSpPr/>
          <p:nvPr/>
        </p:nvSpPr>
        <p:spPr>
          <a:xfrm>
            <a:off x="855400" y="3713200"/>
            <a:ext cx="4167300" cy="100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5203925" y="1274800"/>
            <a:ext cx="6462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9650" y="2083525"/>
            <a:ext cx="658250" cy="335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"/>
          <p:cNvSpPr/>
          <p:nvPr/>
        </p:nvSpPr>
        <p:spPr>
          <a:xfrm>
            <a:off x="5203925" y="1916475"/>
            <a:ext cx="6462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FPGA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6823" y="2809600"/>
            <a:ext cx="702651" cy="3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/>
          <p:nvPr/>
        </p:nvSpPr>
        <p:spPr>
          <a:xfrm>
            <a:off x="5280125" y="2570200"/>
            <a:ext cx="6462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625" y="1793825"/>
            <a:ext cx="15335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3150" y="1793150"/>
            <a:ext cx="15335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950" y="1233675"/>
            <a:ext cx="482750" cy="39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350" y="1309875"/>
            <a:ext cx="434825" cy="4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61975" y="1309875"/>
            <a:ext cx="434825" cy="4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74588" y="1329138"/>
            <a:ext cx="642261" cy="35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94654" y="1228937"/>
            <a:ext cx="658245" cy="2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8975" y="1611675"/>
            <a:ext cx="15335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"/>
          <p:cNvSpPr/>
          <p:nvPr/>
        </p:nvSpPr>
        <p:spPr>
          <a:xfrm>
            <a:off x="6248400" y="1225275"/>
            <a:ext cx="18759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GPU/Accelerator centric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5156500" y="874213"/>
            <a:ext cx="3523200" cy="245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99625" y="3848150"/>
            <a:ext cx="3391349" cy="7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"/>
          <p:cNvSpPr/>
          <p:nvPr/>
        </p:nvSpPr>
        <p:spPr>
          <a:xfrm>
            <a:off x="2185025" y="3766550"/>
            <a:ext cx="18759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NVME  SSD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 txBox="1"/>
          <p:nvPr>
            <p:ph idx="4294967295" type="body"/>
          </p:nvPr>
        </p:nvSpPr>
        <p:spPr>
          <a:xfrm>
            <a:off x="5614025" y="3658225"/>
            <a:ext cx="34602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GPU/Accelerator become mainstream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Storage shifting to high performance SSD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Converge tightly knitted  infrastructure for resource pooling and sharing 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89588" y="28430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59175" y="2843025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"/>
          <p:cNvSpPr/>
          <p:nvPr/>
        </p:nvSpPr>
        <p:spPr>
          <a:xfrm>
            <a:off x="1270625" y="1023350"/>
            <a:ext cx="18759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Distributed/Scale Out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5614025" y="1023350"/>
            <a:ext cx="1875900" cy="1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Converged/Tightly Knitted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279700" y="950413"/>
            <a:ext cx="3523200" cy="245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B45F0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3972688" y="2171363"/>
            <a:ext cx="1014000" cy="280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783F0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/>
          <p:nvPr/>
        </p:nvSpPr>
        <p:spPr>
          <a:xfrm rot="-2700000">
            <a:off x="4734711" y="3466756"/>
            <a:ext cx="1013991" cy="28086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idx="4294967295" type="title"/>
          </p:nvPr>
        </p:nvSpPr>
        <p:spPr>
          <a:xfrm>
            <a:off x="159100" y="-359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计算体系中的一些痛点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0" name="Google Shape;190;p3"/>
          <p:cNvSpPr txBox="1"/>
          <p:nvPr>
            <p:ph idx="4294967295" type="body"/>
          </p:nvPr>
        </p:nvSpPr>
        <p:spPr>
          <a:xfrm>
            <a:off x="724599" y="894657"/>
            <a:ext cx="76947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全闪存储已经是千亿的市场规模，但高可靠性仍然依赖价格昂贵的双端口 SSD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174" y="2555857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4">
            <a:alphaModFix/>
          </a:blip>
          <a:srcRect b="64694" l="0" r="0" t="0"/>
          <a:stretch/>
        </p:blipFill>
        <p:spPr>
          <a:xfrm>
            <a:off x="2313537" y="1863668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"/>
          <p:cNvPicPr preferRelativeResize="0"/>
          <p:nvPr/>
        </p:nvPicPr>
        <p:blipFill rotWithShape="1">
          <a:blip r:embed="rId4">
            <a:alphaModFix/>
          </a:blip>
          <a:srcRect b="64694" l="0" r="0" t="0"/>
          <a:stretch/>
        </p:blipFill>
        <p:spPr>
          <a:xfrm>
            <a:off x="4093265" y="1845588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908" y="2555857"/>
            <a:ext cx="241125" cy="41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3"/>
          <p:cNvCxnSpPr>
            <a:stCxn id="191" idx="0"/>
          </p:cNvCxnSpPr>
          <p:nvPr/>
        </p:nvCxnSpPr>
        <p:spPr>
          <a:xfrm flipH="1" rot="10800000">
            <a:off x="2959737" y="2241457"/>
            <a:ext cx="232800" cy="3144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6" name="Google Shape;196;p3"/>
          <p:cNvCxnSpPr>
            <a:endCxn id="193" idx="2"/>
          </p:cNvCxnSpPr>
          <p:nvPr/>
        </p:nvCxnSpPr>
        <p:spPr>
          <a:xfrm flipH="1" rot="10800000">
            <a:off x="3076228" y="2339938"/>
            <a:ext cx="1783800" cy="2340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7" name="Google Shape;197;p3"/>
          <p:cNvCxnSpPr>
            <a:endCxn id="194" idx="0"/>
          </p:cNvCxnSpPr>
          <p:nvPr/>
        </p:nvCxnSpPr>
        <p:spPr>
          <a:xfrm>
            <a:off x="3308971" y="2321857"/>
            <a:ext cx="1687500" cy="2340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8" name="Google Shape;198;p3"/>
          <p:cNvCxnSpPr/>
          <p:nvPr/>
        </p:nvCxnSpPr>
        <p:spPr>
          <a:xfrm rot="10800000">
            <a:off x="4894754" y="2311680"/>
            <a:ext cx="235200" cy="2904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99" name="Google Shape;199;p3"/>
          <p:cNvSpPr txBox="1"/>
          <p:nvPr/>
        </p:nvSpPr>
        <p:spPr>
          <a:xfrm>
            <a:off x="672667" y="3355879"/>
            <a:ext cx="78684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容器云 （Kubernetes）逐渐成为主流，但始终缺乏高性能，易部署的存储子系统</a:t>
            </a:r>
            <a:endParaRPr b="1" i="0" sz="13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637800" y="3880857"/>
            <a:ext cx="7868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imes New Roman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GPU/AI 计算架构受限于存储性能，网络容易成为瓶颈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165A"/>
              </a:buClr>
              <a:buSzPts val="1600"/>
              <a:buFont typeface="Times New Roman"/>
              <a:buChar char="●"/>
            </a:pPr>
            <a:r>
              <a:rPr b="1" i="0" lang="en" sz="1600" u="none" cap="none" strike="noStrike">
                <a:solidFill>
                  <a:srgbClr val="E116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晶格计算能够彻底解决带宽的瓶颈,完全释放 GPU 的算力</a:t>
            </a:r>
            <a:endParaRPr b="1" i="0" sz="1600" u="none" cap="none" strike="noStrike">
              <a:solidFill>
                <a:srgbClr val="E116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/>
          <p:nvPr>
            <p:ph idx="4294967295" type="title"/>
          </p:nvPr>
        </p:nvSpPr>
        <p:spPr>
          <a:xfrm>
            <a:off x="169338" y="3395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晶格互联</a:t>
            </a:r>
            <a:r>
              <a:rPr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延伸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 PCI Express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6" name="Google Shape;206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95646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745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1792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95846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945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992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83639" y="24698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738" y="26218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9785" y="26218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95646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2745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1792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95846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945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992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83639" y="1860250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0738" y="2012220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9785" y="2012225"/>
            <a:ext cx="168890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"/>
          <p:cNvSpPr/>
          <p:nvPr/>
        </p:nvSpPr>
        <p:spPr>
          <a:xfrm>
            <a:off x="697550" y="835175"/>
            <a:ext cx="15783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GPU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DIstributed AI training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HPC computing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911150" y="4442375"/>
            <a:ext cx="15783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Memory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Big Data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VR/AR/Rendering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4726225" y="791225"/>
            <a:ext cx="1685100" cy="49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NVME SSD pooling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performance storage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4656175" y="4477175"/>
            <a:ext cx="4395900" cy="3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D85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Lattice Fabric: Flexible composition, High performance, High utilization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68067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166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4212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68267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5366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412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56060" y="36614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159" y="38134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206" y="38134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2968067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166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4212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4568267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5366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412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 b="64694" l="0" r="0" t="0"/>
          <a:stretch/>
        </p:blipFill>
        <p:spPr>
          <a:xfrm>
            <a:off x="1356060" y="3051871"/>
            <a:ext cx="1533525" cy="4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159" y="3203841"/>
            <a:ext cx="392875" cy="2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206" y="3203846"/>
            <a:ext cx="168890" cy="29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4"/>
          <p:cNvCxnSpPr/>
          <p:nvPr/>
        </p:nvCxnSpPr>
        <p:spPr>
          <a:xfrm>
            <a:off x="2842694" y="21557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4"/>
          <p:cNvCxnSpPr/>
          <p:nvPr/>
        </p:nvCxnSpPr>
        <p:spPr>
          <a:xfrm>
            <a:off x="2828904" y="27653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4"/>
          <p:cNvCxnSpPr/>
          <p:nvPr/>
        </p:nvCxnSpPr>
        <p:spPr>
          <a:xfrm>
            <a:off x="2815115" y="334012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4"/>
          <p:cNvCxnSpPr/>
          <p:nvPr/>
        </p:nvCxnSpPr>
        <p:spPr>
          <a:xfrm>
            <a:off x="2807863" y="393593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4"/>
          <p:cNvCxnSpPr/>
          <p:nvPr/>
        </p:nvCxnSpPr>
        <p:spPr>
          <a:xfrm>
            <a:off x="4442894" y="21557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4"/>
          <p:cNvCxnSpPr/>
          <p:nvPr/>
        </p:nvCxnSpPr>
        <p:spPr>
          <a:xfrm>
            <a:off x="4429104" y="27653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4"/>
          <p:cNvCxnSpPr/>
          <p:nvPr/>
        </p:nvCxnSpPr>
        <p:spPr>
          <a:xfrm>
            <a:off x="4415315" y="334012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4"/>
          <p:cNvCxnSpPr/>
          <p:nvPr/>
        </p:nvCxnSpPr>
        <p:spPr>
          <a:xfrm>
            <a:off x="4408063" y="3935937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4"/>
          <p:cNvCxnSpPr>
            <a:stCxn id="221" idx="1"/>
          </p:cNvCxnSpPr>
          <p:nvPr/>
        </p:nvCxnSpPr>
        <p:spPr>
          <a:xfrm>
            <a:off x="1383639" y="21074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4"/>
          <p:cNvCxnSpPr>
            <a:endCxn id="218" idx="3"/>
          </p:cNvCxnSpPr>
          <p:nvPr/>
        </p:nvCxnSpPr>
        <p:spPr>
          <a:xfrm flipH="1" rot="10800000">
            <a:off x="6031871" y="21074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4"/>
          <p:cNvCxnSpPr/>
          <p:nvPr/>
        </p:nvCxnSpPr>
        <p:spPr>
          <a:xfrm>
            <a:off x="1437794" y="18393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4"/>
          <p:cNvCxnSpPr/>
          <p:nvPr/>
        </p:nvCxnSpPr>
        <p:spPr>
          <a:xfrm>
            <a:off x="18956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4"/>
          <p:cNvCxnSpPr/>
          <p:nvPr/>
        </p:nvCxnSpPr>
        <p:spPr>
          <a:xfrm>
            <a:off x="34958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4"/>
          <p:cNvCxnSpPr/>
          <p:nvPr/>
        </p:nvCxnSpPr>
        <p:spPr>
          <a:xfrm>
            <a:off x="5096000" y="23277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4"/>
          <p:cNvCxnSpPr/>
          <p:nvPr/>
        </p:nvCxnSpPr>
        <p:spPr>
          <a:xfrm>
            <a:off x="18956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4"/>
          <p:cNvCxnSpPr/>
          <p:nvPr/>
        </p:nvCxnSpPr>
        <p:spPr>
          <a:xfrm>
            <a:off x="34958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4"/>
          <p:cNvCxnSpPr/>
          <p:nvPr/>
        </p:nvCxnSpPr>
        <p:spPr>
          <a:xfrm>
            <a:off x="5096000" y="293738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4"/>
          <p:cNvCxnSpPr/>
          <p:nvPr/>
        </p:nvCxnSpPr>
        <p:spPr>
          <a:xfrm>
            <a:off x="18818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4"/>
          <p:cNvCxnSpPr/>
          <p:nvPr/>
        </p:nvCxnSpPr>
        <p:spPr>
          <a:xfrm>
            <a:off x="34820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4"/>
          <p:cNvCxnSpPr/>
          <p:nvPr/>
        </p:nvCxnSpPr>
        <p:spPr>
          <a:xfrm>
            <a:off x="5082210" y="3484575"/>
            <a:ext cx="0" cy="2619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4"/>
          <p:cNvCxnSpPr>
            <a:stCxn id="221" idx="1"/>
            <a:endCxn id="221" idx="1"/>
          </p:cNvCxnSpPr>
          <p:nvPr/>
        </p:nvCxnSpPr>
        <p:spPr>
          <a:xfrm>
            <a:off x="1383639" y="21074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4"/>
          <p:cNvCxnSpPr>
            <a:stCxn id="221" idx="1"/>
          </p:cNvCxnSpPr>
          <p:nvPr/>
        </p:nvCxnSpPr>
        <p:spPr>
          <a:xfrm flipH="1" rot="10800000">
            <a:off x="1383639" y="17972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4"/>
          <p:cNvCxnSpPr>
            <a:stCxn id="218" idx="3"/>
          </p:cNvCxnSpPr>
          <p:nvPr/>
        </p:nvCxnSpPr>
        <p:spPr>
          <a:xfrm rot="10800000">
            <a:off x="6002771" y="18386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4"/>
          <p:cNvCxnSpPr/>
          <p:nvPr/>
        </p:nvCxnSpPr>
        <p:spPr>
          <a:xfrm>
            <a:off x="1383639" y="27170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4"/>
          <p:cNvCxnSpPr/>
          <p:nvPr/>
        </p:nvCxnSpPr>
        <p:spPr>
          <a:xfrm>
            <a:off x="1437794" y="24489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4"/>
          <p:cNvCxnSpPr/>
          <p:nvPr/>
        </p:nvCxnSpPr>
        <p:spPr>
          <a:xfrm flipH="1" rot="10800000">
            <a:off x="1383639" y="24068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4"/>
          <p:cNvCxnSpPr/>
          <p:nvPr/>
        </p:nvCxnSpPr>
        <p:spPr>
          <a:xfrm flipH="1" rot="10800000">
            <a:off x="6039123" y="27170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4"/>
          <p:cNvCxnSpPr/>
          <p:nvPr/>
        </p:nvCxnSpPr>
        <p:spPr>
          <a:xfrm rot="10800000">
            <a:off x="6010023" y="24482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4"/>
          <p:cNvCxnSpPr/>
          <p:nvPr/>
        </p:nvCxnSpPr>
        <p:spPr>
          <a:xfrm>
            <a:off x="1348808" y="33266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4"/>
          <p:cNvCxnSpPr/>
          <p:nvPr/>
        </p:nvCxnSpPr>
        <p:spPr>
          <a:xfrm flipH="1" rot="10800000">
            <a:off x="5997040" y="33266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4"/>
          <p:cNvCxnSpPr/>
          <p:nvPr/>
        </p:nvCxnSpPr>
        <p:spPr>
          <a:xfrm>
            <a:off x="1402962" y="30585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4"/>
          <p:cNvCxnSpPr/>
          <p:nvPr/>
        </p:nvCxnSpPr>
        <p:spPr>
          <a:xfrm flipH="1" rot="10800000">
            <a:off x="1348808" y="30164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4"/>
          <p:cNvCxnSpPr/>
          <p:nvPr/>
        </p:nvCxnSpPr>
        <p:spPr>
          <a:xfrm rot="10800000">
            <a:off x="5967940" y="30578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4"/>
          <p:cNvCxnSpPr/>
          <p:nvPr/>
        </p:nvCxnSpPr>
        <p:spPr>
          <a:xfrm>
            <a:off x="1348808" y="3936225"/>
            <a:ext cx="107100" cy="483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4"/>
          <p:cNvCxnSpPr/>
          <p:nvPr/>
        </p:nvCxnSpPr>
        <p:spPr>
          <a:xfrm>
            <a:off x="1402962" y="3668119"/>
            <a:ext cx="4613100" cy="13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4"/>
          <p:cNvCxnSpPr/>
          <p:nvPr/>
        </p:nvCxnSpPr>
        <p:spPr>
          <a:xfrm flipH="1" rot="10800000">
            <a:off x="1348808" y="3626025"/>
            <a:ext cx="68700" cy="310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4"/>
          <p:cNvCxnSpPr/>
          <p:nvPr/>
        </p:nvCxnSpPr>
        <p:spPr>
          <a:xfrm rot="10800000">
            <a:off x="5975192" y="3667425"/>
            <a:ext cx="126600" cy="2688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4"/>
          <p:cNvCxnSpPr/>
          <p:nvPr/>
        </p:nvCxnSpPr>
        <p:spPr>
          <a:xfrm flipH="1" rot="10800000">
            <a:off x="5997040" y="3936225"/>
            <a:ext cx="97500" cy="762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4"/>
          <p:cNvCxnSpPr>
            <a:stCxn id="220" idx="0"/>
          </p:cNvCxnSpPr>
          <p:nvPr/>
        </p:nvCxnSpPr>
        <p:spPr>
          <a:xfrm rot="10800000">
            <a:off x="5419337" y="1246925"/>
            <a:ext cx="77100" cy="7653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4"/>
          <p:cNvCxnSpPr>
            <a:stCxn id="208" idx="3"/>
          </p:cNvCxnSpPr>
          <p:nvPr/>
        </p:nvCxnSpPr>
        <p:spPr>
          <a:xfrm flipH="1" rot="10800000">
            <a:off x="3980682" y="1235963"/>
            <a:ext cx="1175400" cy="15324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4"/>
          <p:cNvCxnSpPr/>
          <p:nvPr/>
        </p:nvCxnSpPr>
        <p:spPr>
          <a:xfrm flipH="1" rot="10800000">
            <a:off x="3999437" y="1231821"/>
            <a:ext cx="1295700" cy="20451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4"/>
          <p:cNvCxnSpPr/>
          <p:nvPr/>
        </p:nvCxnSpPr>
        <p:spPr>
          <a:xfrm flipH="1">
            <a:off x="2206325" y="4072500"/>
            <a:ext cx="1985700" cy="6204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4"/>
          <p:cNvCxnSpPr/>
          <p:nvPr/>
        </p:nvCxnSpPr>
        <p:spPr>
          <a:xfrm flipH="1">
            <a:off x="2040750" y="3410625"/>
            <a:ext cx="524100" cy="10617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4"/>
          <p:cNvCxnSpPr/>
          <p:nvPr/>
        </p:nvCxnSpPr>
        <p:spPr>
          <a:xfrm flipH="1">
            <a:off x="2151125" y="4017350"/>
            <a:ext cx="455100" cy="5517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4"/>
          <p:cNvCxnSpPr>
            <a:stCxn id="216" idx="0"/>
          </p:cNvCxnSpPr>
          <p:nvPr/>
        </p:nvCxnSpPr>
        <p:spPr>
          <a:xfrm rot="10800000">
            <a:off x="2000482" y="1234020"/>
            <a:ext cx="1538700" cy="7782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4"/>
          <p:cNvCxnSpPr>
            <a:stCxn id="222" idx="0"/>
          </p:cNvCxnSpPr>
          <p:nvPr/>
        </p:nvCxnSpPr>
        <p:spPr>
          <a:xfrm rot="10800000">
            <a:off x="1792776" y="1287120"/>
            <a:ext cx="134400" cy="7251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2" name="Google Shape;2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6251" y="1891825"/>
            <a:ext cx="884074" cy="7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1600" y="2765325"/>
            <a:ext cx="884075" cy="48276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"/>
          <p:cNvSpPr/>
          <p:nvPr/>
        </p:nvSpPr>
        <p:spPr>
          <a:xfrm>
            <a:off x="7300375" y="1779821"/>
            <a:ext cx="968400" cy="1874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4"/>
          <p:cNvCxnSpPr>
            <a:stCxn id="294" idx="1"/>
            <a:endCxn id="218" idx="3"/>
          </p:cNvCxnSpPr>
          <p:nvPr/>
        </p:nvCxnSpPr>
        <p:spPr>
          <a:xfrm rot="10800000">
            <a:off x="6129475" y="2107421"/>
            <a:ext cx="1170900" cy="6096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4"/>
          <p:cNvCxnSpPr>
            <a:endCxn id="240" idx="3"/>
          </p:cNvCxnSpPr>
          <p:nvPr/>
        </p:nvCxnSpPr>
        <p:spPr>
          <a:xfrm flipH="1">
            <a:off x="6101792" y="3148746"/>
            <a:ext cx="1068900" cy="1503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4"/>
          <p:cNvCxnSpPr/>
          <p:nvPr/>
        </p:nvCxnSpPr>
        <p:spPr>
          <a:xfrm rot="10800000">
            <a:off x="6059925" y="2527725"/>
            <a:ext cx="1152000" cy="4692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"/>
          <p:cNvSpPr txBox="1"/>
          <p:nvPr>
            <p:ph idx="4294967295" type="title"/>
          </p:nvPr>
        </p:nvSpPr>
        <p:spPr>
          <a:xfrm>
            <a:off x="159100" y="-359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latin typeface="Oswald"/>
                <a:ea typeface="Oswald"/>
                <a:cs typeface="Oswald"/>
                <a:sym typeface="Oswald"/>
              </a:rPr>
              <a:t>GPU/SSD的数据交换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311" y="1054811"/>
            <a:ext cx="702655" cy="5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718" y="1071338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397" y="1071342"/>
            <a:ext cx="241125" cy="41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5"/>
          <p:cNvCxnSpPr/>
          <p:nvPr/>
        </p:nvCxnSpPr>
        <p:spPr>
          <a:xfrm>
            <a:off x="1480089" y="1282121"/>
            <a:ext cx="526942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07" name="Google Shape;307;p5"/>
          <p:cNvSpPr txBox="1"/>
          <p:nvPr/>
        </p:nvSpPr>
        <p:spPr>
          <a:xfrm>
            <a:off x="1291698" y="656784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5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2167279" y="1203362"/>
            <a:ext cx="808248" cy="205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5"/>
          <p:cNvCxnSpPr/>
          <p:nvPr/>
        </p:nvCxnSpPr>
        <p:spPr>
          <a:xfrm>
            <a:off x="3041852" y="1280551"/>
            <a:ext cx="526942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10" name="Google Shape;310;p5"/>
          <p:cNvSpPr txBox="1"/>
          <p:nvPr/>
        </p:nvSpPr>
        <p:spPr>
          <a:xfrm>
            <a:off x="2853461" y="655214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9885" y="962401"/>
            <a:ext cx="642372" cy="56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5910" y="975314"/>
            <a:ext cx="642372" cy="562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5"/>
          <p:cNvCxnSpPr/>
          <p:nvPr/>
        </p:nvCxnSpPr>
        <p:spPr>
          <a:xfrm>
            <a:off x="5635281" y="1363068"/>
            <a:ext cx="526942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14" name="Google Shape;314;p5"/>
          <p:cNvSpPr txBox="1"/>
          <p:nvPr/>
        </p:nvSpPr>
        <p:spPr>
          <a:xfrm>
            <a:off x="5446890" y="737731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5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6322471" y="1284309"/>
            <a:ext cx="808248" cy="205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5"/>
          <p:cNvCxnSpPr/>
          <p:nvPr/>
        </p:nvCxnSpPr>
        <p:spPr>
          <a:xfrm>
            <a:off x="7197044" y="1361498"/>
            <a:ext cx="526942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17" name="Google Shape;317;p5"/>
          <p:cNvSpPr txBox="1"/>
          <p:nvPr/>
        </p:nvSpPr>
        <p:spPr>
          <a:xfrm>
            <a:off x="7008653" y="736161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8" name="Google Shape;318;p5"/>
          <p:cNvCxnSpPr/>
          <p:nvPr/>
        </p:nvCxnSpPr>
        <p:spPr>
          <a:xfrm>
            <a:off x="4352257" y="1306608"/>
            <a:ext cx="526942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19" name="Google Shape;319;p5"/>
          <p:cNvSpPr txBox="1"/>
          <p:nvPr/>
        </p:nvSpPr>
        <p:spPr>
          <a:xfrm>
            <a:off x="4212783" y="725364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网路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467702" y="1390375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SSD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5"/>
          <p:cNvSpPr txBox="1"/>
          <p:nvPr/>
        </p:nvSpPr>
        <p:spPr>
          <a:xfrm>
            <a:off x="3986007" y="1968663"/>
            <a:ext cx="1278661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EF8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毫秒延迟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"/>
          <p:cNvSpPr txBox="1"/>
          <p:nvPr/>
        </p:nvSpPr>
        <p:spPr>
          <a:xfrm>
            <a:off x="3520982" y="1387036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网卡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4788273" y="1385166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网卡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5"/>
          <p:cNvSpPr txBox="1"/>
          <p:nvPr/>
        </p:nvSpPr>
        <p:spPr>
          <a:xfrm>
            <a:off x="6055564" y="1456897"/>
            <a:ext cx="1278661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系统内存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5"/>
          <p:cNvSpPr txBox="1"/>
          <p:nvPr/>
        </p:nvSpPr>
        <p:spPr>
          <a:xfrm>
            <a:off x="7704335" y="1439529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6" name="Google Shape;326;p5"/>
          <p:cNvCxnSpPr>
            <a:stCxn id="320" idx="2"/>
          </p:cNvCxnSpPr>
          <p:nvPr/>
        </p:nvCxnSpPr>
        <p:spPr>
          <a:xfrm flipH="1">
            <a:off x="898705" y="1971100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5"/>
          <p:cNvCxnSpPr/>
          <p:nvPr/>
        </p:nvCxnSpPr>
        <p:spPr>
          <a:xfrm flipH="1">
            <a:off x="8166966" y="1897611"/>
            <a:ext cx="6162" cy="539626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5"/>
          <p:cNvCxnSpPr/>
          <p:nvPr/>
        </p:nvCxnSpPr>
        <p:spPr>
          <a:xfrm>
            <a:off x="5662879" y="2240913"/>
            <a:ext cx="245268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29" name="Google Shape;329;p5"/>
          <p:cNvCxnSpPr/>
          <p:nvPr/>
        </p:nvCxnSpPr>
        <p:spPr>
          <a:xfrm rot="10800000">
            <a:off x="997397" y="2240913"/>
            <a:ext cx="2571397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30" name="Google Shape;330;p5"/>
          <p:cNvSpPr txBox="1"/>
          <p:nvPr/>
        </p:nvSpPr>
        <p:spPr>
          <a:xfrm>
            <a:off x="2050366" y="1561216"/>
            <a:ext cx="1278661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系统内存 </a:t>
            </a:r>
            <a:endParaRPr b="1" i="0" sz="16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6566" y="3099108"/>
            <a:ext cx="702655" cy="5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2774" y="3229702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2453" y="3229706"/>
            <a:ext cx="241125" cy="41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5"/>
          <p:cNvCxnSpPr/>
          <p:nvPr/>
        </p:nvCxnSpPr>
        <p:spPr>
          <a:xfrm>
            <a:off x="3929642" y="3441764"/>
            <a:ext cx="21303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35" name="Google Shape;335;p5"/>
          <p:cNvSpPr txBox="1"/>
          <p:nvPr/>
        </p:nvSpPr>
        <p:spPr>
          <a:xfrm>
            <a:off x="2922758" y="3548739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SSD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5"/>
          <p:cNvSpPr txBox="1"/>
          <p:nvPr/>
        </p:nvSpPr>
        <p:spPr>
          <a:xfrm>
            <a:off x="4239868" y="4182403"/>
            <a:ext cx="1416849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微秒延迟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"/>
          <p:cNvSpPr txBox="1"/>
          <p:nvPr/>
        </p:nvSpPr>
        <p:spPr>
          <a:xfrm>
            <a:off x="6162223" y="3593971"/>
            <a:ext cx="874606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8" name="Google Shape;338;p5"/>
          <p:cNvCxnSpPr>
            <a:stCxn id="335" idx="2"/>
          </p:cNvCxnSpPr>
          <p:nvPr/>
        </p:nvCxnSpPr>
        <p:spPr>
          <a:xfrm flipH="1">
            <a:off x="3353761" y="4129464"/>
            <a:ext cx="6300" cy="539700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5"/>
          <p:cNvCxnSpPr/>
          <p:nvPr/>
        </p:nvCxnSpPr>
        <p:spPr>
          <a:xfrm flipH="1">
            <a:off x="6626095" y="4124992"/>
            <a:ext cx="6162" cy="539626"/>
          </a:xfrm>
          <a:prstGeom prst="straightConnector1">
            <a:avLst/>
          </a:prstGeom>
          <a:noFill/>
          <a:ln cap="flat" cmpd="sng" w="38100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5"/>
          <p:cNvCxnSpPr/>
          <p:nvPr/>
        </p:nvCxnSpPr>
        <p:spPr>
          <a:xfrm>
            <a:off x="5710691" y="4472766"/>
            <a:ext cx="542875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341" name="Google Shape;341;p5"/>
          <p:cNvCxnSpPr>
            <a:stCxn id="336" idx="1"/>
          </p:cNvCxnSpPr>
          <p:nvPr/>
        </p:nvCxnSpPr>
        <p:spPr>
          <a:xfrm rot="10800000">
            <a:off x="3593368" y="4472766"/>
            <a:ext cx="6465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</p:cxnSp>
      <p:sp>
        <p:nvSpPr>
          <p:cNvPr id="342" name="Google Shape;342;p5"/>
          <p:cNvSpPr txBox="1"/>
          <p:nvPr/>
        </p:nvSpPr>
        <p:spPr>
          <a:xfrm>
            <a:off x="4024932" y="3013246"/>
            <a:ext cx="1877753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晶格互联 </a:t>
            </a: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PCIE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5"/>
          <p:cNvSpPr/>
          <p:nvPr/>
        </p:nvSpPr>
        <p:spPr>
          <a:xfrm flipH="1" rot="10800000">
            <a:off x="1704370" y="3404761"/>
            <a:ext cx="813816" cy="868680"/>
          </a:xfrm>
          <a:prstGeom prst="bentArrow">
            <a:avLst>
              <a:gd fmla="val 25000" name="adj1"/>
              <a:gd fmla="val 25000" name="adj2"/>
              <a:gd fmla="val 25000" name="adj3"/>
              <a:gd fmla="val 47559" name="adj4"/>
            </a:avLst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"/>
          <p:cNvSpPr txBox="1"/>
          <p:nvPr/>
        </p:nvSpPr>
        <p:spPr>
          <a:xfrm>
            <a:off x="565014" y="2939339"/>
            <a:ext cx="2298498" cy="5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晶格计算的技术</a:t>
            </a:r>
            <a:endParaRPr b="1" i="0" sz="16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"/>
          <p:cNvSpPr txBox="1"/>
          <p:nvPr>
            <p:ph idx="4294967295" type="title"/>
          </p:nvPr>
        </p:nvSpPr>
        <p:spPr>
          <a:xfrm>
            <a:off x="152063" y="762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GPU/SSD 紧耦合 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KV Cache AI &amp; LLM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5473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6519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5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91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"/>
          <p:cNvSpPr/>
          <p:nvPr/>
        </p:nvSpPr>
        <p:spPr>
          <a:xfrm>
            <a:off x="18130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1537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18271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1537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18271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12512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11853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Paged KV Cache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7069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7146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25285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26331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27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3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13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37942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3518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3808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3518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3808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32324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31665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Paged KV Cache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26881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26958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"/>
          <p:cNvSpPr/>
          <p:nvPr/>
        </p:nvSpPr>
        <p:spPr>
          <a:xfrm>
            <a:off x="44335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45381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77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53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3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"/>
          <p:cNvSpPr/>
          <p:nvPr/>
        </p:nvSpPr>
        <p:spPr>
          <a:xfrm>
            <a:off x="56992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"/>
          <p:cNvSpPr/>
          <p:nvPr/>
        </p:nvSpPr>
        <p:spPr>
          <a:xfrm>
            <a:off x="5423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57133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5423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57133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51374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50715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Paged KV Cache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45931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46008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"/>
          <p:cNvSpPr/>
          <p:nvPr/>
        </p:nvSpPr>
        <p:spPr>
          <a:xfrm>
            <a:off x="6414725" y="1179100"/>
            <a:ext cx="1752600" cy="1584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6519325" y="1771900"/>
            <a:ext cx="432600" cy="1710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975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6500" y="2207625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7538" y="1250220"/>
            <a:ext cx="392875" cy="29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"/>
          <p:cNvSpPr/>
          <p:nvPr/>
        </p:nvSpPr>
        <p:spPr>
          <a:xfrm>
            <a:off x="7680490" y="1256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74047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7694500" y="14276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74047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7694500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7118606" y="1580075"/>
            <a:ext cx="289800" cy="17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7052725" y="1771900"/>
            <a:ext cx="999900" cy="17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Paged KV Cache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6574325" y="2207625"/>
            <a:ext cx="808248" cy="20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6"/>
          <p:cNvPicPr preferRelativeResize="0"/>
          <p:nvPr/>
        </p:nvPicPr>
        <p:blipFill rotWithShape="1">
          <a:blip r:embed="rId5">
            <a:alphaModFix/>
          </a:blip>
          <a:srcRect b="35690" l="16937" r="18132" t="31299"/>
          <a:stretch/>
        </p:blipFill>
        <p:spPr>
          <a:xfrm>
            <a:off x="6582043" y="2384950"/>
            <a:ext cx="808248" cy="20545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"/>
          <p:cNvSpPr/>
          <p:nvPr/>
        </p:nvSpPr>
        <p:spPr>
          <a:xfrm>
            <a:off x="3156625" y="2800350"/>
            <a:ext cx="2829300" cy="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Extended PCIE Fabric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6"/>
          <p:cNvCxnSpPr/>
          <p:nvPr/>
        </p:nvCxnSpPr>
        <p:spPr>
          <a:xfrm>
            <a:off x="1894994" y="3058519"/>
            <a:ext cx="4489500" cy="81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6"/>
          <p:cNvCxnSpPr/>
          <p:nvPr/>
        </p:nvCxnSpPr>
        <p:spPr>
          <a:xfrm>
            <a:off x="1523524" y="2713475"/>
            <a:ext cx="378000" cy="3330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6"/>
          <p:cNvCxnSpPr/>
          <p:nvPr/>
        </p:nvCxnSpPr>
        <p:spPr>
          <a:xfrm flipH="1">
            <a:off x="6364324" y="2713475"/>
            <a:ext cx="188400" cy="34650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6"/>
          <p:cNvCxnSpPr/>
          <p:nvPr/>
        </p:nvCxnSpPr>
        <p:spPr>
          <a:xfrm>
            <a:off x="23092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6"/>
          <p:cNvCxnSpPr/>
          <p:nvPr/>
        </p:nvCxnSpPr>
        <p:spPr>
          <a:xfrm>
            <a:off x="42142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6"/>
          <p:cNvCxnSpPr/>
          <p:nvPr/>
        </p:nvCxnSpPr>
        <p:spPr>
          <a:xfrm>
            <a:off x="6195494" y="2460558"/>
            <a:ext cx="248100" cy="0"/>
          </a:xfrm>
          <a:prstGeom prst="straightConnector1">
            <a:avLst/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6"/>
          <p:cNvSpPr txBox="1"/>
          <p:nvPr>
            <p:ph idx="4294967295" type="body"/>
          </p:nvPr>
        </p:nvSpPr>
        <p:spPr>
          <a:xfrm>
            <a:off x="504900" y="3611125"/>
            <a:ext cx="63369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基于</a:t>
            </a:r>
            <a:r>
              <a:rPr b="1" lang="en" sz="1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晶格互联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的 GPU/SSD 紧耦合是开创性的计算架构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端到端的数据交换完全在延伸的 PCIE 互联中完成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数据交换的延迟有数量级的提高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591bcd05_0_148"/>
          <p:cNvSpPr/>
          <p:nvPr/>
        </p:nvSpPr>
        <p:spPr>
          <a:xfrm>
            <a:off x="863925" y="1500550"/>
            <a:ext cx="3967500" cy="315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698" y="207384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g3bf591bcd05_0_148"/>
          <p:cNvCxnSpPr/>
          <p:nvPr/>
        </p:nvCxnSpPr>
        <p:spPr>
          <a:xfrm flipH="1" rot="10800000">
            <a:off x="995373" y="181614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1" name="Google Shape;421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379" y="2070177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g3bf591bcd05_0_148"/>
          <p:cNvCxnSpPr/>
          <p:nvPr/>
        </p:nvCxnSpPr>
        <p:spPr>
          <a:xfrm flipH="1" rot="10800000">
            <a:off x="1487054" y="181247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3" name="Google Shape;423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081" y="207384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" name="Google Shape;424;g3bf591bcd05_0_148"/>
          <p:cNvCxnSpPr/>
          <p:nvPr/>
        </p:nvCxnSpPr>
        <p:spPr>
          <a:xfrm flipH="1" rot="10800000">
            <a:off x="2000756" y="181614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5" name="Google Shape;425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762" y="2070177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g3bf591bcd05_0_148"/>
          <p:cNvCxnSpPr/>
          <p:nvPr/>
        </p:nvCxnSpPr>
        <p:spPr>
          <a:xfrm flipH="1" rot="10800000">
            <a:off x="2492437" y="181247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7" name="Google Shape;427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9854" y="20775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g3bf591bcd05_0_148"/>
          <p:cNvCxnSpPr/>
          <p:nvPr/>
        </p:nvCxnSpPr>
        <p:spPr>
          <a:xfrm flipH="1" rot="10800000">
            <a:off x="2959529" y="18198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9" name="Google Shape;429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1535" y="2073852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g3bf591bcd05_0_148"/>
          <p:cNvCxnSpPr/>
          <p:nvPr/>
        </p:nvCxnSpPr>
        <p:spPr>
          <a:xfrm flipH="1" rot="10800000">
            <a:off x="3451210" y="18161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1" name="Google Shape;431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5237" y="20775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g3bf591bcd05_0_148"/>
          <p:cNvCxnSpPr/>
          <p:nvPr/>
        </p:nvCxnSpPr>
        <p:spPr>
          <a:xfrm flipH="1" rot="10800000">
            <a:off x="3964912" y="18198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3" name="Google Shape;433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918" y="2073852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g3bf591bcd05_0_148"/>
          <p:cNvCxnSpPr/>
          <p:nvPr/>
        </p:nvCxnSpPr>
        <p:spPr>
          <a:xfrm flipH="1" rot="10800000">
            <a:off x="4456593" y="18161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g3bf591bcd05_0_148"/>
          <p:cNvSpPr/>
          <p:nvPr/>
        </p:nvSpPr>
        <p:spPr>
          <a:xfrm>
            <a:off x="381275" y="1129250"/>
            <a:ext cx="4899300" cy="172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bf591bcd05_0_148"/>
          <p:cNvSpPr/>
          <p:nvPr/>
        </p:nvSpPr>
        <p:spPr>
          <a:xfrm>
            <a:off x="948475" y="3548950"/>
            <a:ext cx="3967500" cy="359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248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g3bf591bcd05_0_148"/>
          <p:cNvCxnSpPr/>
          <p:nvPr/>
        </p:nvCxnSpPr>
        <p:spPr>
          <a:xfrm flipH="1" rot="10800000">
            <a:off x="1079923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g3bf591bcd05_0_148"/>
          <p:cNvCxnSpPr/>
          <p:nvPr/>
        </p:nvCxnSpPr>
        <p:spPr>
          <a:xfrm flipH="1" rot="10800000">
            <a:off x="1571604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0" name="Google Shape;440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631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g3bf591bcd05_0_148"/>
          <p:cNvCxnSpPr/>
          <p:nvPr/>
        </p:nvCxnSpPr>
        <p:spPr>
          <a:xfrm flipH="1" rot="10800000">
            <a:off x="2085306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g3bf591bcd05_0_148"/>
          <p:cNvCxnSpPr/>
          <p:nvPr/>
        </p:nvCxnSpPr>
        <p:spPr>
          <a:xfrm flipH="1" rot="10800000">
            <a:off x="2576987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3" name="Google Shape;443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404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g3bf591bcd05_0_148"/>
          <p:cNvCxnSpPr/>
          <p:nvPr/>
        </p:nvCxnSpPr>
        <p:spPr>
          <a:xfrm flipH="1" rot="10800000">
            <a:off x="3044079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g3bf591bcd05_0_148"/>
          <p:cNvCxnSpPr/>
          <p:nvPr/>
        </p:nvCxnSpPr>
        <p:spPr>
          <a:xfrm flipH="1" rot="10800000">
            <a:off x="3535760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6" name="Google Shape;446;g3bf591bcd05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87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g3bf591bcd05_0_148"/>
          <p:cNvCxnSpPr/>
          <p:nvPr/>
        </p:nvCxnSpPr>
        <p:spPr>
          <a:xfrm flipH="1" rot="10800000">
            <a:off x="4049462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g3bf591bcd05_0_148"/>
          <p:cNvCxnSpPr/>
          <p:nvPr/>
        </p:nvCxnSpPr>
        <p:spPr>
          <a:xfrm flipH="1" rot="10800000">
            <a:off x="4541143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g3bf591bcd05_0_148"/>
          <p:cNvSpPr/>
          <p:nvPr/>
        </p:nvSpPr>
        <p:spPr>
          <a:xfrm>
            <a:off x="381272" y="3151278"/>
            <a:ext cx="4899300" cy="172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g3bf591bcd05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6550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bf591bcd05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8625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bf591bcd05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0700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bf591bcd05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6075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bf591bcd05_0_148"/>
          <p:cNvSpPr/>
          <p:nvPr/>
        </p:nvSpPr>
        <p:spPr>
          <a:xfrm flipH="1">
            <a:off x="5315741" y="2342371"/>
            <a:ext cx="652800" cy="12867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91D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bf591bcd05_0_148"/>
          <p:cNvSpPr txBox="1"/>
          <p:nvPr/>
        </p:nvSpPr>
        <p:spPr>
          <a:xfrm>
            <a:off x="6003725" y="1184098"/>
            <a:ext cx="2985000" cy="3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GPU/SSD 配对组合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每片 GPU 有专有的计算缓存和 KV-Cache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GPU 通过相邻的 SSD 交换数据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数十倍地增加了 GPU/KV-Cache 的有效带宽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6" name="Google Shape;456;g3bf591bcd05_0_148"/>
          <p:cNvSpPr/>
          <p:nvPr/>
        </p:nvSpPr>
        <p:spPr>
          <a:xfrm flipH="1">
            <a:off x="1146775" y="3812796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bf591bcd05_0_148"/>
          <p:cNvSpPr/>
          <p:nvPr/>
        </p:nvSpPr>
        <p:spPr>
          <a:xfrm flipH="1">
            <a:off x="2127021" y="3809127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bf591bcd05_0_148"/>
          <p:cNvSpPr/>
          <p:nvPr/>
        </p:nvSpPr>
        <p:spPr>
          <a:xfrm flipH="1">
            <a:off x="3077213" y="3809121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bf591bcd05_0_148"/>
          <p:cNvSpPr/>
          <p:nvPr/>
        </p:nvSpPr>
        <p:spPr>
          <a:xfrm flipH="1">
            <a:off x="4082600" y="3809121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bf591bcd05_0_148"/>
          <p:cNvSpPr txBox="1"/>
          <p:nvPr/>
        </p:nvSpPr>
        <p:spPr>
          <a:xfrm>
            <a:off x="310081" y="262518"/>
            <a:ext cx="915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KFNative™ Technology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591bcd05_0_194"/>
          <p:cNvSpPr txBox="1"/>
          <p:nvPr>
            <p:ph idx="4294967295" type="title"/>
          </p:nvPr>
        </p:nvSpPr>
        <p:spPr>
          <a:xfrm>
            <a:off x="169195" y="806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KFNative™</a:t>
            </a: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 Ring Extension</a:t>
            </a:r>
            <a:endParaRPr b="1" sz="3000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66" name="Google Shape;466;g3bf591bcd05_0_194"/>
          <p:cNvSpPr/>
          <p:nvPr/>
        </p:nvSpPr>
        <p:spPr>
          <a:xfrm>
            <a:off x="637850" y="3400775"/>
            <a:ext cx="4746300" cy="474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251" y="4114358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g3bf591bcd05_0_194"/>
          <p:cNvCxnSpPr/>
          <p:nvPr/>
        </p:nvCxnSpPr>
        <p:spPr>
          <a:xfrm flipH="1" rot="10800000">
            <a:off x="1554926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g3bf591bcd05_0_194"/>
          <p:cNvCxnSpPr/>
          <p:nvPr/>
        </p:nvCxnSpPr>
        <p:spPr>
          <a:xfrm flipH="1" rot="10800000">
            <a:off x="2046607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0" name="Google Shape;470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635" y="41664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1" name="Google Shape;471;g3bf591bcd05_0_194"/>
          <p:cNvCxnSpPr/>
          <p:nvPr/>
        </p:nvCxnSpPr>
        <p:spPr>
          <a:xfrm flipH="1" rot="10800000">
            <a:off x="2560310" y="39087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g3bf591bcd05_0_194"/>
          <p:cNvCxnSpPr/>
          <p:nvPr/>
        </p:nvCxnSpPr>
        <p:spPr>
          <a:xfrm flipH="1" rot="10800000">
            <a:off x="3051991" y="39050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3" name="Google Shape;473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9407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g3bf591bcd05_0_194"/>
          <p:cNvCxnSpPr/>
          <p:nvPr/>
        </p:nvCxnSpPr>
        <p:spPr>
          <a:xfrm flipH="1" rot="10800000">
            <a:off x="3519082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g3bf591bcd05_0_194"/>
          <p:cNvCxnSpPr/>
          <p:nvPr/>
        </p:nvCxnSpPr>
        <p:spPr>
          <a:xfrm flipH="1" rot="10800000">
            <a:off x="4010763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6" name="Google Shape;476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4790" y="41700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g3bf591bcd05_0_194"/>
          <p:cNvCxnSpPr/>
          <p:nvPr/>
        </p:nvCxnSpPr>
        <p:spPr>
          <a:xfrm flipH="1" rot="10800000">
            <a:off x="4524465" y="39123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g3bf591bcd05_0_194"/>
          <p:cNvCxnSpPr/>
          <p:nvPr/>
        </p:nvCxnSpPr>
        <p:spPr>
          <a:xfrm flipH="1" rot="10800000">
            <a:off x="5016146" y="39087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g3bf591bcd05_0_194"/>
          <p:cNvSpPr/>
          <p:nvPr/>
        </p:nvSpPr>
        <p:spPr>
          <a:xfrm>
            <a:off x="640800" y="1018338"/>
            <a:ext cx="4937100" cy="173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1554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3629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704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1079" y="4124600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bf591bcd05_0_194"/>
          <p:cNvSpPr/>
          <p:nvPr/>
        </p:nvSpPr>
        <p:spPr>
          <a:xfrm flipH="1">
            <a:off x="2090754" y="3715013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bf591bcd05_0_194"/>
          <p:cNvSpPr/>
          <p:nvPr/>
        </p:nvSpPr>
        <p:spPr>
          <a:xfrm flipH="1">
            <a:off x="3072837" y="3731252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bf591bcd05_0_194"/>
          <p:cNvSpPr/>
          <p:nvPr/>
        </p:nvSpPr>
        <p:spPr>
          <a:xfrm flipH="1">
            <a:off x="4041413" y="3736179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bf591bcd05_0_194"/>
          <p:cNvSpPr/>
          <p:nvPr/>
        </p:nvSpPr>
        <p:spPr>
          <a:xfrm>
            <a:off x="832650" y="1510522"/>
            <a:ext cx="4515600" cy="4389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PCIE Switch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376" y="21881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g3bf591bcd05_0_194"/>
          <p:cNvCxnSpPr/>
          <p:nvPr/>
        </p:nvCxnSpPr>
        <p:spPr>
          <a:xfrm flipH="1" rot="10800000">
            <a:off x="1770051" y="19304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g3bf591bcd05_0_194"/>
          <p:cNvCxnSpPr/>
          <p:nvPr/>
        </p:nvCxnSpPr>
        <p:spPr>
          <a:xfrm flipH="1" rot="10800000">
            <a:off x="2261732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1" name="Google Shape;491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5760" y="2188121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" name="Google Shape;492;g3bf591bcd05_0_194"/>
          <p:cNvCxnSpPr/>
          <p:nvPr/>
        </p:nvCxnSpPr>
        <p:spPr>
          <a:xfrm flipH="1" rot="10800000">
            <a:off x="2775435" y="1930421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g3bf591bcd05_0_194"/>
          <p:cNvCxnSpPr/>
          <p:nvPr/>
        </p:nvCxnSpPr>
        <p:spPr>
          <a:xfrm flipH="1" rot="10800000">
            <a:off x="3267116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4" name="Google Shape;494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4532" y="21917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g3bf591bcd05_0_194"/>
          <p:cNvCxnSpPr/>
          <p:nvPr/>
        </p:nvCxnSpPr>
        <p:spPr>
          <a:xfrm flipH="1" rot="10800000">
            <a:off x="3734207" y="19340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g3bf591bcd05_0_194"/>
          <p:cNvCxnSpPr/>
          <p:nvPr/>
        </p:nvCxnSpPr>
        <p:spPr>
          <a:xfrm flipH="1" rot="10800000">
            <a:off x="4225888" y="1930427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7" name="Google Shape;497;g3bf591bcd05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915" y="2191796"/>
            <a:ext cx="588350" cy="43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g3bf591bcd05_0_194"/>
          <p:cNvCxnSpPr/>
          <p:nvPr/>
        </p:nvCxnSpPr>
        <p:spPr>
          <a:xfrm flipH="1" rot="10800000">
            <a:off x="4739590" y="1934096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g3bf591bcd05_0_194"/>
          <p:cNvCxnSpPr/>
          <p:nvPr/>
        </p:nvCxnSpPr>
        <p:spPr>
          <a:xfrm flipH="1" rot="10800000">
            <a:off x="1278371" y="1926752"/>
            <a:ext cx="9000" cy="25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0" name="Google Shape;500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679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8754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0829" y="2146300"/>
            <a:ext cx="241125" cy="4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bf591bcd05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304" y="2202038"/>
            <a:ext cx="241125" cy="418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bf591bcd05_0_194"/>
          <p:cNvSpPr/>
          <p:nvPr/>
        </p:nvSpPr>
        <p:spPr>
          <a:xfrm>
            <a:off x="2808566" y="1807018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bf591bcd05_0_194"/>
          <p:cNvSpPr/>
          <p:nvPr/>
        </p:nvSpPr>
        <p:spPr>
          <a:xfrm>
            <a:off x="3758837" y="1807552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bf591bcd05_0_194"/>
          <p:cNvSpPr/>
          <p:nvPr/>
        </p:nvSpPr>
        <p:spPr>
          <a:xfrm rot="-5400000">
            <a:off x="304875" y="2903850"/>
            <a:ext cx="1621800" cy="455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50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bf591bcd05_0_194"/>
          <p:cNvSpPr/>
          <p:nvPr/>
        </p:nvSpPr>
        <p:spPr>
          <a:xfrm>
            <a:off x="1803192" y="1778784"/>
            <a:ext cx="434400" cy="2112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bf591bcd05_0_194"/>
          <p:cNvSpPr/>
          <p:nvPr/>
        </p:nvSpPr>
        <p:spPr>
          <a:xfrm rot="5400000">
            <a:off x="3770350" y="2841150"/>
            <a:ext cx="2616000" cy="4554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60848" name="adj5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bf591bcd05_0_194"/>
          <p:cNvSpPr/>
          <p:nvPr/>
        </p:nvSpPr>
        <p:spPr>
          <a:xfrm>
            <a:off x="522150" y="3040425"/>
            <a:ext cx="5136600" cy="173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74E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bf591bcd05_0_194"/>
          <p:cNvSpPr txBox="1"/>
          <p:nvPr/>
        </p:nvSpPr>
        <p:spPr>
          <a:xfrm>
            <a:off x="5913733" y="1189092"/>
            <a:ext cx="2852100" cy="2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Commodity GPU, less HBM dependency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No NVlink dependency 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Better parallelism All/All Ring reduce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Train largest LLM with </a:t>
            </a:r>
            <a:r>
              <a:rPr b="1" i="0" lang="en" sz="3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64X</a:t>
            </a: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 fewer GPUs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591bcd05_0_243"/>
          <p:cNvSpPr txBox="1"/>
          <p:nvPr>
            <p:ph idx="4294967295" type="title"/>
          </p:nvPr>
        </p:nvSpPr>
        <p:spPr>
          <a:xfrm>
            <a:off x="3250083" y="1016944"/>
            <a:ext cx="56445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Case Study of</a:t>
            </a:r>
            <a:br>
              <a:rPr lang="en" sz="2500">
                <a:latin typeface="Oswald"/>
                <a:ea typeface="Oswald"/>
                <a:cs typeface="Oswald"/>
                <a:sym typeface="Oswald"/>
              </a:rPr>
            </a:br>
            <a:r>
              <a:rPr lang="en" sz="25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Streaming Computing during LLM Inference </a:t>
            </a:r>
            <a:endParaRPr sz="25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16" name="Google Shape;516;g3bf591bcd05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200" y="901200"/>
            <a:ext cx="2410586" cy="39850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bf591bcd05_0_243"/>
          <p:cNvSpPr txBox="1"/>
          <p:nvPr/>
        </p:nvSpPr>
        <p:spPr>
          <a:xfrm>
            <a:off x="3425259" y="2061876"/>
            <a:ext cx="5328300" cy="24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GPT-3 175B, 96 layer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Each layer ~1.8B, 3.6G Bytes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Gen</a:t>
            </a: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x16 SSD bandwidth ~ 100GB/s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Model loading time for one layer: 3.6/100 </a:t>
            </a:r>
            <a:r>
              <a:rPr b="0" i="0" lang="en" sz="2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~ 35ms</a:t>
            </a:r>
            <a:endParaRPr b="0" i="0" sz="2000" u="none" cap="none" strike="noStrike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b="0" i="0" lang="en" sz="2000" u="none" cap="none" strike="noStrike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Computing: 100K x 1.8B / 1000 T </a:t>
            </a:r>
            <a:r>
              <a:rPr b="0" i="0" lang="en" sz="2000" u="none" cap="none" strike="noStrike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~ 180ms</a:t>
            </a:r>
            <a:endParaRPr b="0" i="0" sz="2000" u="none" cap="none" strike="noStrike">
              <a:solidFill>
                <a:srgbClr val="E91D63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18" name="Google Shape;518;g3bf591bcd05_0_243"/>
          <p:cNvSpPr txBox="1"/>
          <p:nvPr/>
        </p:nvSpPr>
        <p:spPr>
          <a:xfrm>
            <a:off x="169195" y="806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KFNative™ 推理示例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g3bf591bcd05_0_243"/>
          <p:cNvCxnSpPr/>
          <p:nvPr/>
        </p:nvCxnSpPr>
        <p:spPr>
          <a:xfrm>
            <a:off x="3577927" y="1992546"/>
            <a:ext cx="4953000" cy="600"/>
          </a:xfrm>
          <a:prstGeom prst="straightConnector1">
            <a:avLst/>
          </a:prstGeom>
          <a:noFill/>
          <a:ln cap="flat" cmpd="sng" w="28575">
            <a:solidFill>
              <a:srgbClr val="E91D6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f591bcd05_0_301"/>
          <p:cNvSpPr txBox="1"/>
          <p:nvPr/>
        </p:nvSpPr>
        <p:spPr>
          <a:xfrm>
            <a:off x="310081" y="262518"/>
            <a:ext cx="915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1" lang="en" sz="30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KFNative™ </a:t>
            </a:r>
            <a:r>
              <a:rPr b="1" lang="en" sz="3000">
                <a:solidFill>
                  <a:srgbClr val="E1165A"/>
                </a:solidFill>
                <a:latin typeface="Oswald"/>
                <a:ea typeface="Oswald"/>
                <a:cs typeface="Oswald"/>
                <a:sym typeface="Oswald"/>
              </a:rPr>
              <a:t>大幅降低训练成本</a:t>
            </a:r>
            <a:endParaRPr b="0" i="0" sz="1400" u="none" cap="none" strike="noStrike">
              <a:solidFill>
                <a:srgbClr val="E116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bf591bcd05_0_301"/>
          <p:cNvSpPr/>
          <p:nvPr/>
        </p:nvSpPr>
        <p:spPr>
          <a:xfrm>
            <a:off x="6385615" y="1327733"/>
            <a:ext cx="541500" cy="280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E91D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device with a fan&#10;&#10;AI-generated content may be incorrect." id="526" name="Google Shape;52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10085" y="132773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7" name="Google Shape;52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26966" y="132773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8" name="Google Shape;52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48861" y="132271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29" name="Google Shape;52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65742" y="132271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0" name="Google Shape;53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187637" y="132773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1" name="Google Shape;53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04518" y="132773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2" name="Google Shape;53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15098" y="175385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3" name="Google Shape;53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31979" y="175385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4" name="Google Shape;53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53874" y="174883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5" name="Google Shape;53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70755" y="1748836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6" name="Google Shape;53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192650" y="175385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7" name="Google Shape;53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09531" y="175384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8" name="Google Shape;53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0111" y="217996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39" name="Google Shape;53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36992" y="217996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0" name="Google Shape;54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58887" y="217495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1" name="Google Shape;54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75768" y="2174954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2" name="Google Shape;54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197663" y="217996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3" name="Google Shape;54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14544" y="217996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4" name="Google Shape;54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5124" y="258603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5" name="Google Shape;54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42005" y="2586034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6" name="Google Shape;54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63900" y="258102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7" name="Google Shape;54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80781" y="258102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8" name="Google Shape;54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02676" y="2586034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49" name="Google Shape;54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19557" y="258603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0" name="Google Shape;55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30137" y="301215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1" name="Google Shape;55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47018" y="301215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2" name="Google Shape;55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68913" y="300713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3" name="Google Shape;55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85794" y="300713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4" name="Google Shape;55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07689" y="301215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5" name="Google Shape;55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24570" y="301215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6" name="Google Shape;55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35150" y="343827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7" name="Google Shape;55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52031" y="343827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8" name="Google Shape;55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73926" y="343325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59" name="Google Shape;55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90807" y="3433256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0" name="Google Shape;56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12702" y="343827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1" name="Google Shape;56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29583" y="343826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2" name="Google Shape;56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40164" y="384433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3" name="Google Shape;56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57045" y="384433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4" name="Google Shape;56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78940" y="3839324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5" name="Google Shape;56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495821" y="383932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6" name="Google Shape;56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17716" y="384433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7" name="Google Shape;56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34597" y="3844336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8" name="Google Shape;56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45177" y="4270456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69" name="Google Shape;56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062058" y="427045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0" name="Google Shape;57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1783953" y="426544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1" name="Google Shape;57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2500834" y="426544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2" name="Google Shape;57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222729" y="427045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3" name="Google Shape;57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3939610" y="4270454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4" name="Google Shape;57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21399" y="132271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5" name="Google Shape;57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26412" y="174883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6" name="Google Shape;57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31425" y="217495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7" name="Google Shape;57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36438" y="258101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8" name="Google Shape;57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41451" y="3007137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79" name="Google Shape;57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46464" y="343325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0" name="Google Shape;58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51478" y="3839322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1" name="Google Shape;581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4656491" y="4265440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2" name="Google Shape;582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28254" y="131770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3" name="Google Shape;583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33267" y="174382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4" name="Google Shape;584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38280" y="2169939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5" name="Google Shape;585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43293" y="2576005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6" name="Google Shape;586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48306" y="3002123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7" name="Google Shape;587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53319" y="3428241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8" name="Google Shape;588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58333" y="3834308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89" name="Google Shape;589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5363346" y="4260426"/>
            <a:ext cx="715672" cy="40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device with a fan&#10;&#10;AI-generated content may be incorrect." id="590" name="Google Shape;590;g3bf591bcd05_0_301"/>
          <p:cNvPicPr preferRelativeResize="0"/>
          <p:nvPr/>
        </p:nvPicPr>
        <p:blipFill rotWithShape="1">
          <a:blip r:embed="rId3">
            <a:alphaModFix/>
          </a:blip>
          <a:srcRect b="36777" l="37685" r="36304" t="42134"/>
          <a:stretch/>
        </p:blipFill>
        <p:spPr>
          <a:xfrm>
            <a:off x="7224939" y="1266322"/>
            <a:ext cx="715672" cy="40360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bf591bcd05_0_301"/>
          <p:cNvSpPr txBox="1"/>
          <p:nvPr/>
        </p:nvSpPr>
        <p:spPr>
          <a:xfrm>
            <a:off x="6090275" y="1748823"/>
            <a:ext cx="2985000" cy="3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完全绕开 HBM 和 NVlink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有效组织显卡级 GPU 做大规模训练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大幅降低大模型训练所需的 GPU 数量</a:t>
            </a:r>
            <a:endParaRPr b="0" i="0" sz="20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Times New Roman"/>
              <a:buChar char="●"/>
            </a:pPr>
            <a:r>
              <a:rPr lang="en" sz="2000">
                <a:solidFill>
                  <a:srgbClr val="595959"/>
                </a:solidFill>
                <a:latin typeface="Oswald"/>
                <a:ea typeface="Oswald"/>
                <a:cs typeface="Oswald"/>
                <a:sym typeface="Oswald"/>
              </a:rPr>
              <a:t>高清超长视频生成</a:t>
            </a:r>
            <a:endParaRPr b="0" i="0" sz="14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"/>
          <p:cNvSpPr txBox="1"/>
          <p:nvPr/>
        </p:nvSpPr>
        <p:spPr>
          <a:xfrm>
            <a:off x="170750" y="-43894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晶格互联</a:t>
            </a:r>
            <a:r>
              <a:rPr b="0" i="0" lang="en" sz="3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系统集成</a:t>
            </a:r>
            <a:endParaRPr b="0" i="0" sz="3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97" name="Google Shape;5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25" y="1381325"/>
            <a:ext cx="2033200" cy="14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475" y="1534200"/>
            <a:ext cx="1787600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475" y="2143800"/>
            <a:ext cx="1787600" cy="4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7"/>
          <p:cNvPicPr preferRelativeResize="0"/>
          <p:nvPr/>
        </p:nvPicPr>
        <p:blipFill rotWithShape="1">
          <a:blip r:embed="rId5">
            <a:alphaModFix/>
          </a:blip>
          <a:srcRect b="30501" l="23529" r="24789" t="33333"/>
          <a:stretch/>
        </p:blipFill>
        <p:spPr>
          <a:xfrm>
            <a:off x="5065750" y="13813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7"/>
          <p:cNvPicPr preferRelativeResize="0"/>
          <p:nvPr/>
        </p:nvPicPr>
        <p:blipFill rotWithShape="1">
          <a:blip r:embed="rId5">
            <a:alphaModFix/>
          </a:blip>
          <a:srcRect b="30501" l="23529" r="24789" t="33333"/>
          <a:stretch/>
        </p:blipFill>
        <p:spPr>
          <a:xfrm>
            <a:off x="5065750" y="17623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7"/>
          <p:cNvPicPr preferRelativeResize="0"/>
          <p:nvPr/>
        </p:nvPicPr>
        <p:blipFill rotWithShape="1">
          <a:blip r:embed="rId5">
            <a:alphaModFix/>
          </a:blip>
          <a:srcRect b="30501" l="23529" r="24789" t="33333"/>
          <a:stretch/>
        </p:blipFill>
        <p:spPr>
          <a:xfrm>
            <a:off x="5065750" y="2295725"/>
            <a:ext cx="2238074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15326" y="3130125"/>
            <a:ext cx="884074" cy="7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8375" y="3277838"/>
            <a:ext cx="884075" cy="482767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"/>
          <p:cNvSpPr/>
          <p:nvPr/>
        </p:nvSpPr>
        <p:spPr>
          <a:xfrm>
            <a:off x="2727775" y="3130125"/>
            <a:ext cx="2620500" cy="863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60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"/>
          <p:cNvSpPr/>
          <p:nvPr/>
        </p:nvSpPr>
        <p:spPr>
          <a:xfrm rot="-2700000">
            <a:off x="5420511" y="3009556"/>
            <a:ext cx="1013991" cy="28086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"/>
          <p:cNvSpPr/>
          <p:nvPr/>
        </p:nvSpPr>
        <p:spPr>
          <a:xfrm rot="-8100000">
            <a:off x="1663887" y="3060938"/>
            <a:ext cx="1025022" cy="316925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"/>
          <p:cNvSpPr txBox="1"/>
          <p:nvPr>
            <p:ph idx="4294967295" type="body"/>
          </p:nvPr>
        </p:nvSpPr>
        <p:spPr>
          <a:xfrm>
            <a:off x="416450" y="4407125"/>
            <a:ext cx="63369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●"/>
            </a:pPr>
            <a:r>
              <a:rPr lang="en" sz="16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1" lang="en" sz="1600">
                <a:solidFill>
                  <a:srgbClr val="E91D63"/>
                </a:solidFill>
                <a:latin typeface="Oswald"/>
                <a:ea typeface="Oswald"/>
                <a:cs typeface="Oswald"/>
                <a:sym typeface="Oswald"/>
              </a:rPr>
              <a:t>KFNative™ 能有效地和各个品牌服务器厂商集成</a:t>
            </a:r>
            <a:endParaRPr b="1" sz="100">
              <a:solidFill>
                <a:srgbClr val="F60A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9" name="Google Shape;60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7675" y="878875"/>
            <a:ext cx="48755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70575" y="903487"/>
            <a:ext cx="1092657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39401" y="958225"/>
            <a:ext cx="715475" cy="37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1050" y="986766"/>
            <a:ext cx="948900" cy="27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56125" y="933925"/>
            <a:ext cx="673979" cy="3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"/>
          <p:cNvSpPr/>
          <p:nvPr/>
        </p:nvSpPr>
        <p:spPr>
          <a:xfrm>
            <a:off x="1344100" y="1936100"/>
            <a:ext cx="5350200" cy="1270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8"/>
          <p:cNvSpPr/>
          <p:nvPr/>
        </p:nvSpPr>
        <p:spPr>
          <a:xfrm>
            <a:off x="1810475" y="2630475"/>
            <a:ext cx="1370700" cy="4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8"/>
          <p:cNvSpPr/>
          <p:nvPr/>
        </p:nvSpPr>
        <p:spPr>
          <a:xfrm>
            <a:off x="1878125" y="2685525"/>
            <a:ext cx="1231500" cy="3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Rancher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"/>
          <p:cNvSpPr/>
          <p:nvPr/>
        </p:nvSpPr>
        <p:spPr>
          <a:xfrm>
            <a:off x="3334475" y="2614575"/>
            <a:ext cx="1370700" cy="4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3402125" y="2669625"/>
            <a:ext cx="1231500" cy="3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OpenShift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8"/>
          <p:cNvSpPr/>
          <p:nvPr/>
        </p:nvSpPr>
        <p:spPr>
          <a:xfrm>
            <a:off x="4782275" y="2614575"/>
            <a:ext cx="1370700" cy="4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8"/>
          <p:cNvSpPr/>
          <p:nvPr/>
        </p:nvSpPr>
        <p:spPr>
          <a:xfrm>
            <a:off x="4849925" y="2669625"/>
            <a:ext cx="1231500" cy="321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EKS Anywhere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8"/>
          <p:cNvSpPr/>
          <p:nvPr/>
        </p:nvSpPr>
        <p:spPr>
          <a:xfrm>
            <a:off x="1333025" y="912463"/>
            <a:ext cx="5350200" cy="84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834" y="4714339"/>
            <a:ext cx="2464116" cy="17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2625" y="4358124"/>
            <a:ext cx="2499325" cy="350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034" y="4714339"/>
            <a:ext cx="2464116" cy="17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5825" y="4358124"/>
            <a:ext cx="2499325" cy="35013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8"/>
          <p:cNvSpPr txBox="1"/>
          <p:nvPr/>
        </p:nvSpPr>
        <p:spPr>
          <a:xfrm>
            <a:off x="159300" y="-8335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r>
              <a:rPr b="0" i="0" lang="en" sz="3000" u="none" cap="none" strike="noStrike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– Revolutionize Kubernetes Storage</a:t>
            </a:r>
            <a:endParaRPr b="0" i="0" sz="3000" u="none" cap="none" strike="noStrike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31" name="Google Shape;63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5894" y="4236245"/>
            <a:ext cx="516450" cy="38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9450" y="4324853"/>
            <a:ext cx="515124" cy="262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09775" y="4326150"/>
            <a:ext cx="516451" cy="28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8959" y="4521488"/>
            <a:ext cx="516450" cy="38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1850" y="4629653"/>
            <a:ext cx="515124" cy="262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62175" y="4630950"/>
            <a:ext cx="516451" cy="282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8"/>
          <p:cNvSpPr/>
          <p:nvPr/>
        </p:nvSpPr>
        <p:spPr>
          <a:xfrm>
            <a:off x="1327850" y="3312225"/>
            <a:ext cx="5742000" cy="900600"/>
          </a:xfrm>
          <a:prstGeom prst="roundRect">
            <a:avLst>
              <a:gd fmla="val 16667" name="adj"/>
            </a:avLst>
          </a:prstGeom>
          <a:solidFill>
            <a:srgbClr val="F60A6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"/>
          <p:cNvSpPr/>
          <p:nvPr/>
        </p:nvSpPr>
        <p:spPr>
          <a:xfrm>
            <a:off x="1713535" y="3543047"/>
            <a:ext cx="4993200" cy="47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8"/>
          <p:cNvCxnSpPr/>
          <p:nvPr/>
        </p:nvCxnSpPr>
        <p:spPr>
          <a:xfrm flipH="1" rot="10800000">
            <a:off x="5411495" y="4090572"/>
            <a:ext cx="1384800" cy="33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0" name="Google Shape;640;p8"/>
          <p:cNvCxnSpPr/>
          <p:nvPr/>
        </p:nvCxnSpPr>
        <p:spPr>
          <a:xfrm rot="10800000">
            <a:off x="6920089" y="3519763"/>
            <a:ext cx="13500" cy="495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1" name="Google Shape;641;p8"/>
          <p:cNvCxnSpPr/>
          <p:nvPr/>
        </p:nvCxnSpPr>
        <p:spPr>
          <a:xfrm rot="10800000">
            <a:off x="4198598" y="3443435"/>
            <a:ext cx="2459100" cy="27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2" name="Google Shape;642;p8"/>
          <p:cNvSpPr txBox="1"/>
          <p:nvPr/>
        </p:nvSpPr>
        <p:spPr>
          <a:xfrm>
            <a:off x="2188927" y="3950550"/>
            <a:ext cx="363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Tb/s  IO &amp; Networking</a:t>
            </a:r>
            <a:endParaRPr b="1" i="0" sz="1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3" name="Google Shape;64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59625" y="993309"/>
            <a:ext cx="687850" cy="6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1625" y="993309"/>
            <a:ext cx="687850" cy="6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73846" y="993309"/>
            <a:ext cx="687850" cy="6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8"/>
          <p:cNvSpPr/>
          <p:nvPr/>
        </p:nvSpPr>
        <p:spPr>
          <a:xfrm>
            <a:off x="990000" y="4236250"/>
            <a:ext cx="889200" cy="77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D85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3525" y="1076122"/>
            <a:ext cx="612000" cy="53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69175" y="1077662"/>
            <a:ext cx="612000" cy="535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02125" y="1077674"/>
            <a:ext cx="612000" cy="535484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8"/>
          <p:cNvSpPr/>
          <p:nvPr/>
        </p:nvSpPr>
        <p:spPr>
          <a:xfrm>
            <a:off x="3857950" y="4236250"/>
            <a:ext cx="889200" cy="77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D85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8"/>
          <p:cNvSpPr/>
          <p:nvPr/>
        </p:nvSpPr>
        <p:spPr>
          <a:xfrm>
            <a:off x="6584481" y="4236250"/>
            <a:ext cx="889200" cy="77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D85C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0950" y="2086050"/>
            <a:ext cx="546172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8"/>
          <p:cNvSpPr/>
          <p:nvPr/>
        </p:nvSpPr>
        <p:spPr>
          <a:xfrm>
            <a:off x="2484850" y="3663152"/>
            <a:ext cx="3546300" cy="3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Tier0 NFS</a:t>
            </a: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 native local NVME for Kubernetes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05050" y="206832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46150" y="2052550"/>
            <a:ext cx="991200" cy="4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oogle Shape;660;p9"/>
          <p:cNvGrpSpPr/>
          <p:nvPr/>
        </p:nvGrpSpPr>
        <p:grpSpPr>
          <a:xfrm>
            <a:off x="4644087" y="1863933"/>
            <a:ext cx="2296578" cy="1892339"/>
            <a:chOff x="2991269" y="1153325"/>
            <a:chExt cx="3514811" cy="3252002"/>
          </a:xfrm>
        </p:grpSpPr>
        <p:sp>
          <p:nvSpPr>
            <p:cNvPr id="661" name="Google Shape;661;p9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662" name="Google Shape;662;p9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63" name="Google Shape;663;p9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64" name="Google Shape;664;p9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665" name="Google Shape;665;p9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66" name="Google Shape;666;p9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67" name="Google Shape;667;p9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  <p:sp>
          <p:nvSpPr>
            <p:cNvPr id="668" name="Google Shape;668;p9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F60A61"/>
            </a:solidFill>
            <a:ln>
              <a:noFill/>
            </a:ln>
          </p:spPr>
        </p:sp>
      </p:grpSp>
      <p:sp>
        <p:nvSpPr>
          <p:cNvPr id="669" name="Google Shape;669;p9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</a:t>
            </a:r>
            <a:r>
              <a:rPr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的技术定位</a:t>
            </a:r>
            <a:endParaRPr sz="3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70" name="Google Shape;6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675" y="1821800"/>
            <a:ext cx="48755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250" y="2539187"/>
            <a:ext cx="1092657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039" y="2066675"/>
            <a:ext cx="715475" cy="37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725" y="4048650"/>
            <a:ext cx="64680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0071" y="4064821"/>
            <a:ext cx="352050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2674" y="2260113"/>
            <a:ext cx="487550" cy="3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29475" y="3502700"/>
            <a:ext cx="586176" cy="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9"/>
          <p:cNvSpPr/>
          <p:nvPr/>
        </p:nvSpPr>
        <p:spPr>
          <a:xfrm>
            <a:off x="326825" y="1626400"/>
            <a:ext cx="1929600" cy="1726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B45F0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9"/>
          <p:cNvSpPr/>
          <p:nvPr/>
        </p:nvSpPr>
        <p:spPr>
          <a:xfrm>
            <a:off x="326825" y="3973363"/>
            <a:ext cx="1929600" cy="58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9"/>
          <p:cNvSpPr/>
          <p:nvPr/>
        </p:nvSpPr>
        <p:spPr>
          <a:xfrm>
            <a:off x="2414774" y="2416223"/>
            <a:ext cx="586200" cy="22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783F0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9"/>
          <p:cNvSpPr/>
          <p:nvPr/>
        </p:nvSpPr>
        <p:spPr>
          <a:xfrm rot="-2700000">
            <a:off x="2246276" y="3936535"/>
            <a:ext cx="923199" cy="24352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C27B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9"/>
          <p:cNvSpPr/>
          <p:nvPr/>
        </p:nvSpPr>
        <p:spPr>
          <a:xfrm>
            <a:off x="3044175" y="1863925"/>
            <a:ext cx="1070700" cy="245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9"/>
          <p:cNvSpPr/>
          <p:nvPr/>
        </p:nvSpPr>
        <p:spPr>
          <a:xfrm>
            <a:off x="4319774" y="2644823"/>
            <a:ext cx="586200" cy="22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7376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9"/>
          <p:cNvSpPr txBox="1"/>
          <p:nvPr/>
        </p:nvSpPr>
        <p:spPr>
          <a:xfrm>
            <a:off x="5137650" y="3680075"/>
            <a:ext cx="1485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 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p9"/>
          <p:cNvGrpSpPr/>
          <p:nvPr/>
        </p:nvGrpSpPr>
        <p:grpSpPr>
          <a:xfrm>
            <a:off x="6513600" y="3089638"/>
            <a:ext cx="3058585" cy="1384500"/>
            <a:chOff x="5838531" y="2598925"/>
            <a:chExt cx="2669155" cy="1384500"/>
          </a:xfrm>
        </p:grpSpPr>
        <p:cxnSp>
          <p:nvCxnSpPr>
            <p:cNvPr id="685" name="Google Shape;685;p9"/>
            <p:cNvCxnSpPr/>
            <p:nvPr/>
          </p:nvCxnSpPr>
          <p:spPr>
            <a:xfrm>
              <a:off x="5838531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6" name="Google Shape;686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Lattice PCIE Fabric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All Flash Array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9" name="Google Shape;689;p9"/>
          <p:cNvGrpSpPr/>
          <p:nvPr/>
        </p:nvGrpSpPr>
        <p:grpSpPr>
          <a:xfrm>
            <a:off x="6332950" y="1943725"/>
            <a:ext cx="2829985" cy="1384500"/>
            <a:chOff x="6038025" y="2598925"/>
            <a:chExt cx="2469661" cy="1384500"/>
          </a:xfrm>
        </p:grpSpPr>
        <p:cxnSp>
          <p:nvCxnSpPr>
            <p:cNvPr id="690" name="Google Shape;690;p9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1" name="Google Shape;691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Tier0 NFS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Native NVME  VM/Kubernetes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94" name="Google Shape;694;p9"/>
          <p:cNvCxnSpPr/>
          <p:nvPr/>
        </p:nvCxnSpPr>
        <p:spPr>
          <a:xfrm rot="10800000">
            <a:off x="6174018" y="3493084"/>
            <a:ext cx="310800" cy="304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5" name="Google Shape;695;p9"/>
          <p:cNvGrpSpPr/>
          <p:nvPr/>
        </p:nvGrpSpPr>
        <p:grpSpPr>
          <a:xfrm>
            <a:off x="6409150" y="876925"/>
            <a:ext cx="2829985" cy="1384500"/>
            <a:chOff x="6038025" y="2598925"/>
            <a:chExt cx="2469661" cy="1384500"/>
          </a:xfrm>
        </p:grpSpPr>
        <p:cxnSp>
          <p:nvCxnSpPr>
            <p:cNvPr id="696" name="Google Shape;696;p9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7" name="Google Shape;697;p9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KV Cache, Vector Database </a:t>
              </a:r>
              <a:endParaRPr b="1" i="0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" sz="1300">
                  <a:solidFill>
                    <a:srgbClr val="E91D63"/>
                  </a:solidFill>
                  <a:latin typeface="Oswald"/>
                  <a:ea typeface="Oswald"/>
                  <a:cs typeface="Oswald"/>
                  <a:sym typeface="Oswald"/>
                </a:rPr>
                <a:t>KFNative™</a:t>
              </a:r>
              <a:endParaRPr b="1" i="0" sz="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9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00" name="Google Shape;700;p9"/>
          <p:cNvCxnSpPr/>
          <p:nvPr/>
        </p:nvCxnSpPr>
        <p:spPr>
          <a:xfrm flipH="1" rot="10800000">
            <a:off x="5917075" y="1621000"/>
            <a:ext cx="507000" cy="628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9"/>
          <p:cNvSpPr txBox="1"/>
          <p:nvPr/>
        </p:nvSpPr>
        <p:spPr>
          <a:xfrm>
            <a:off x="593475" y="12243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9"/>
          <p:cNvSpPr txBox="1"/>
          <p:nvPr/>
        </p:nvSpPr>
        <p:spPr>
          <a:xfrm>
            <a:off x="505175" y="355937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AFA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9"/>
          <p:cNvSpPr txBox="1"/>
          <p:nvPr/>
        </p:nvSpPr>
        <p:spPr>
          <a:xfrm>
            <a:off x="3262575" y="1224325"/>
            <a:ext cx="5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"/>
          <p:cNvSpPr txBox="1"/>
          <p:nvPr/>
        </p:nvSpPr>
        <p:spPr>
          <a:xfrm>
            <a:off x="5319975" y="1224325"/>
            <a:ext cx="8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HCI 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"/>
          <p:cNvSpPr txBox="1"/>
          <p:nvPr/>
        </p:nvSpPr>
        <p:spPr>
          <a:xfrm>
            <a:off x="3031875" y="43485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AFA NVMEoF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9"/>
          <p:cNvSpPr txBox="1"/>
          <p:nvPr/>
        </p:nvSpPr>
        <p:spPr>
          <a:xfrm>
            <a:off x="5165475" y="4348525"/>
            <a:ext cx="160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AFA Native NVME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0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晶格计算</a:t>
            </a:r>
            <a:r>
              <a:rPr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市场定位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2" name="Google Shape;7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786" y="1837516"/>
            <a:ext cx="646800" cy="4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0231" y="1812886"/>
            <a:ext cx="352050" cy="4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4449" y="1962338"/>
            <a:ext cx="487550" cy="3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3285" y="2375503"/>
            <a:ext cx="586176" cy="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10"/>
          <p:cNvSpPr/>
          <p:nvPr/>
        </p:nvSpPr>
        <p:spPr>
          <a:xfrm>
            <a:off x="1213350" y="3494250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0"/>
          <p:cNvSpPr/>
          <p:nvPr/>
        </p:nvSpPr>
        <p:spPr>
          <a:xfrm>
            <a:off x="1421048" y="1723652"/>
            <a:ext cx="1415700" cy="131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0"/>
          <p:cNvSpPr txBox="1"/>
          <p:nvPr/>
        </p:nvSpPr>
        <p:spPr>
          <a:xfrm>
            <a:off x="1417152" y="883696"/>
            <a:ext cx="160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全闪存阵列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0"/>
          <p:cNvSpPr txBox="1"/>
          <p:nvPr/>
        </p:nvSpPr>
        <p:spPr>
          <a:xfrm>
            <a:off x="6234955" y="864764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数据中心/算力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0"/>
          <p:cNvSpPr txBox="1"/>
          <p:nvPr/>
        </p:nvSpPr>
        <p:spPr>
          <a:xfrm>
            <a:off x="1723960" y="1230901"/>
            <a:ext cx="71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~ 千亿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0"/>
          <p:cNvSpPr txBox="1"/>
          <p:nvPr/>
        </p:nvSpPr>
        <p:spPr>
          <a:xfrm>
            <a:off x="81345" y="1230901"/>
            <a:ext cx="132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 Size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0"/>
          <p:cNvSpPr txBox="1"/>
          <p:nvPr/>
        </p:nvSpPr>
        <p:spPr>
          <a:xfrm>
            <a:off x="85439" y="2077639"/>
            <a:ext cx="132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Major Player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0"/>
          <p:cNvSpPr txBox="1"/>
          <p:nvPr/>
        </p:nvSpPr>
        <p:spPr>
          <a:xfrm>
            <a:off x="129981" y="3618717"/>
            <a:ext cx="1327500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60A61"/>
                </a:solidFill>
                <a:latin typeface="Roboto"/>
                <a:ea typeface="Roboto"/>
                <a:cs typeface="Roboto"/>
                <a:sym typeface="Roboto"/>
              </a:rPr>
              <a:t>晶格计算</a:t>
            </a: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优势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10"/>
          <p:cNvSpPr txBox="1"/>
          <p:nvPr/>
        </p:nvSpPr>
        <p:spPr>
          <a:xfrm>
            <a:off x="1213356" y="3594525"/>
            <a:ext cx="211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Off-the-Shelf components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Utilizing server from any vendor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High performance and low  CPU utilization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5" name="Google Shape;72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2375" y="2150038"/>
            <a:ext cx="745088" cy="7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0"/>
          <p:cNvSpPr/>
          <p:nvPr/>
        </p:nvSpPr>
        <p:spPr>
          <a:xfrm>
            <a:off x="3960706" y="1723652"/>
            <a:ext cx="1415700" cy="131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0"/>
          <p:cNvSpPr txBox="1"/>
          <p:nvPr/>
        </p:nvSpPr>
        <p:spPr>
          <a:xfrm>
            <a:off x="3774101" y="876935"/>
            <a:ext cx="160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超融合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4262715" y="1241349"/>
            <a:ext cx="833785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~ 近千亿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0"/>
          <p:cNvSpPr txBox="1"/>
          <p:nvPr/>
        </p:nvSpPr>
        <p:spPr>
          <a:xfrm>
            <a:off x="3690461" y="3564899"/>
            <a:ext cx="2116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Native local NVME performance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Power efficient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Revolutionary all flash solution for Kubernetes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10"/>
          <p:cNvSpPr/>
          <p:nvPr/>
        </p:nvSpPr>
        <p:spPr>
          <a:xfrm>
            <a:off x="3610448" y="3468275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0"/>
          <p:cNvSpPr txBox="1"/>
          <p:nvPr/>
        </p:nvSpPr>
        <p:spPr>
          <a:xfrm>
            <a:off x="6707108" y="1231964"/>
            <a:ext cx="715500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数千亿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0"/>
          <p:cNvSpPr txBox="1"/>
          <p:nvPr/>
        </p:nvSpPr>
        <p:spPr>
          <a:xfrm>
            <a:off x="6234955" y="3457042"/>
            <a:ext cx="2116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Converged SSD/Memory Caching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Native NVME throughput for KV cach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Boosting data analytics with native flash storage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10"/>
          <p:cNvSpPr/>
          <p:nvPr/>
        </p:nvSpPr>
        <p:spPr>
          <a:xfrm>
            <a:off x="6074179" y="3468285"/>
            <a:ext cx="2116200" cy="10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0A6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4" name="Google Shape;734;p10"/>
          <p:cNvCxnSpPr/>
          <p:nvPr/>
        </p:nvCxnSpPr>
        <p:spPr>
          <a:xfrm flipH="1" rot="10800000">
            <a:off x="128075" y="849375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10"/>
          <p:cNvCxnSpPr/>
          <p:nvPr/>
        </p:nvCxnSpPr>
        <p:spPr>
          <a:xfrm flipH="1" rot="10800000">
            <a:off x="128075" y="1563879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10"/>
          <p:cNvCxnSpPr/>
          <p:nvPr/>
        </p:nvCxnSpPr>
        <p:spPr>
          <a:xfrm flipH="1" rot="10800000">
            <a:off x="183450" y="3245913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7" name="Google Shape;737;p10"/>
          <p:cNvSpPr txBox="1"/>
          <p:nvPr/>
        </p:nvSpPr>
        <p:spPr>
          <a:xfrm>
            <a:off x="6500340" y="2150059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Many Players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3bbc9c988_1_11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晶格计算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竞争对手分析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Google Shape;743;g3a3bbc9c988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939" y="1098795"/>
            <a:ext cx="487550" cy="337669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3a3bbc9c988_1_11"/>
          <p:cNvSpPr txBox="1"/>
          <p:nvPr/>
        </p:nvSpPr>
        <p:spPr>
          <a:xfrm>
            <a:off x="679825" y="1070475"/>
            <a:ext cx="145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全闪存阵列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3a3bbc9c988_1_11"/>
          <p:cNvSpPr txBox="1"/>
          <p:nvPr/>
        </p:nvSpPr>
        <p:spPr>
          <a:xfrm>
            <a:off x="6608772" y="1062333"/>
            <a:ext cx="83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F60A61"/>
                </a:solidFill>
                <a:latin typeface="Roboto"/>
                <a:ea typeface="Roboto"/>
                <a:cs typeface="Roboto"/>
                <a:sym typeface="Roboto"/>
              </a:rPr>
              <a:t>晶格计算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6" name="Google Shape;746;g3a3bbc9c988_1_11"/>
          <p:cNvCxnSpPr/>
          <p:nvPr/>
        </p:nvCxnSpPr>
        <p:spPr>
          <a:xfrm flipH="1" rot="10800000">
            <a:off x="128075" y="849375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g3a3bbc9c988_1_11"/>
          <p:cNvCxnSpPr/>
          <p:nvPr/>
        </p:nvCxnSpPr>
        <p:spPr>
          <a:xfrm flipH="1" rot="10800000">
            <a:off x="128075" y="1563879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g3a3bbc9c988_1_11"/>
          <p:cNvCxnSpPr/>
          <p:nvPr/>
        </p:nvCxnSpPr>
        <p:spPr>
          <a:xfrm flipH="1" rot="10800000">
            <a:off x="183450" y="3245913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g3a3bbc9c988_1_11"/>
          <p:cNvSpPr txBox="1"/>
          <p:nvPr/>
        </p:nvSpPr>
        <p:spPr>
          <a:xfrm>
            <a:off x="618549" y="2150050"/>
            <a:ext cx="118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架构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g3a3bbc9c988_1_11"/>
          <p:cNvPicPr preferRelativeResize="0"/>
          <p:nvPr/>
        </p:nvPicPr>
        <p:blipFill rotWithShape="1">
          <a:blip r:embed="rId4">
            <a:alphaModFix/>
          </a:blip>
          <a:srcRect b="30498" l="23530" r="24786" t="33334"/>
          <a:stretch/>
        </p:blipFill>
        <p:spPr>
          <a:xfrm>
            <a:off x="2628192" y="1842036"/>
            <a:ext cx="11235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g3a3bbc9c988_1_11"/>
          <p:cNvPicPr preferRelativeResize="0"/>
          <p:nvPr/>
        </p:nvPicPr>
        <p:blipFill rotWithShape="1">
          <a:blip r:embed="rId4">
            <a:alphaModFix/>
          </a:blip>
          <a:srcRect b="30498" l="23530" r="24786" t="33334"/>
          <a:stretch/>
        </p:blipFill>
        <p:spPr>
          <a:xfrm>
            <a:off x="3833825" y="1835250"/>
            <a:ext cx="11235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g3a3bbc9c988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1050" y="2685875"/>
            <a:ext cx="1238148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g3a3bbc9c988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575" y="2685875"/>
            <a:ext cx="1238110" cy="3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3a3bbc9c988_1_11"/>
          <p:cNvSpPr txBox="1"/>
          <p:nvPr/>
        </p:nvSpPr>
        <p:spPr>
          <a:xfrm>
            <a:off x="1803250" y="1908925"/>
            <a:ext cx="99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C-node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a3bbc9c988_1_11"/>
          <p:cNvSpPr txBox="1"/>
          <p:nvPr/>
        </p:nvSpPr>
        <p:spPr>
          <a:xfrm>
            <a:off x="1833509" y="2597389"/>
            <a:ext cx="99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D-node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a3bbc9c988_1_11"/>
          <p:cNvSpPr txBox="1"/>
          <p:nvPr/>
        </p:nvSpPr>
        <p:spPr>
          <a:xfrm>
            <a:off x="3344778" y="2162675"/>
            <a:ext cx="135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Switch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NVME over Fabric</a:t>
            </a:r>
            <a:endParaRPr b="1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g3a3bbc9c988_1_11"/>
          <p:cNvCxnSpPr>
            <a:stCxn id="750" idx="2"/>
            <a:endCxn id="756" idx="1"/>
          </p:cNvCxnSpPr>
          <p:nvPr/>
        </p:nvCxnSpPr>
        <p:spPr>
          <a:xfrm>
            <a:off x="3189942" y="2280336"/>
            <a:ext cx="154800" cy="1209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58" name="Google Shape;758;g3a3bbc9c988_1_11"/>
          <p:cNvCxnSpPr/>
          <p:nvPr/>
        </p:nvCxnSpPr>
        <p:spPr>
          <a:xfrm flipH="1">
            <a:off x="4332039" y="2232478"/>
            <a:ext cx="132900" cy="2178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59" name="Google Shape;759;g3a3bbc9c988_1_11"/>
          <p:cNvCxnSpPr/>
          <p:nvPr/>
        </p:nvCxnSpPr>
        <p:spPr>
          <a:xfrm>
            <a:off x="4295446" y="2530851"/>
            <a:ext cx="182100" cy="2076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0" name="Google Shape;760;g3a3bbc9c988_1_11"/>
          <p:cNvCxnSpPr/>
          <p:nvPr/>
        </p:nvCxnSpPr>
        <p:spPr>
          <a:xfrm flipH="1">
            <a:off x="3235885" y="2473091"/>
            <a:ext cx="132900" cy="2178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761" name="Google Shape;761;g3a3bbc9c988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4642" y="1842025"/>
            <a:ext cx="1238111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g3a3bbc9c988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9075" y="2263950"/>
            <a:ext cx="1238110" cy="3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g3a3bbc9c988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5975" y="2754937"/>
            <a:ext cx="1238110" cy="33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4" name="Google Shape;764;g3a3bbc9c988_1_11"/>
          <p:cNvCxnSpPr/>
          <p:nvPr/>
        </p:nvCxnSpPr>
        <p:spPr>
          <a:xfrm flipH="1">
            <a:off x="7782204" y="2069054"/>
            <a:ext cx="900" cy="3186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5" name="Google Shape;765;g3a3bbc9c988_1_11"/>
          <p:cNvCxnSpPr/>
          <p:nvPr/>
        </p:nvCxnSpPr>
        <p:spPr>
          <a:xfrm flipH="1">
            <a:off x="7795775" y="2615100"/>
            <a:ext cx="900" cy="3186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6" name="Google Shape;766;g3a3bbc9c988_1_11"/>
          <p:cNvCxnSpPr>
            <a:endCxn id="761" idx="3"/>
          </p:cNvCxnSpPr>
          <p:nvPr/>
        </p:nvCxnSpPr>
        <p:spPr>
          <a:xfrm rot="10800000">
            <a:off x="7502753" y="2010863"/>
            <a:ext cx="300600" cy="858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7" name="Google Shape;767;g3a3bbc9c988_1_11"/>
          <p:cNvCxnSpPr/>
          <p:nvPr/>
        </p:nvCxnSpPr>
        <p:spPr>
          <a:xfrm rot="10800000">
            <a:off x="7496818" y="2552572"/>
            <a:ext cx="311100" cy="963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8" name="Google Shape;768;g3a3bbc9c988_1_11"/>
          <p:cNvCxnSpPr/>
          <p:nvPr/>
        </p:nvCxnSpPr>
        <p:spPr>
          <a:xfrm flipH="1" rot="10800000">
            <a:off x="7517186" y="2363287"/>
            <a:ext cx="263400" cy="1170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69" name="Google Shape;769;g3a3bbc9c988_1_11"/>
          <p:cNvCxnSpPr/>
          <p:nvPr/>
        </p:nvCxnSpPr>
        <p:spPr>
          <a:xfrm flipH="1" rot="10800000">
            <a:off x="7534075" y="2933700"/>
            <a:ext cx="244800" cy="123900"/>
          </a:xfrm>
          <a:prstGeom prst="straightConnector1">
            <a:avLst/>
          </a:prstGeom>
          <a:noFill/>
          <a:ln cap="flat" cmpd="sng" w="38100">
            <a:solidFill>
              <a:srgbClr val="E116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70" name="Google Shape;770;g3a3bbc9c988_1_11"/>
          <p:cNvSpPr txBox="1"/>
          <p:nvPr/>
        </p:nvSpPr>
        <p:spPr>
          <a:xfrm>
            <a:off x="7778875" y="2226475"/>
            <a:ext cx="1450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Native PCIE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Symmetric </a:t>
            </a:r>
            <a:endParaRPr b="1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Optimized Architecture</a:t>
            </a:r>
            <a:endParaRPr b="1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g3a3bbc9c988_1_11"/>
          <p:cNvSpPr txBox="1"/>
          <p:nvPr/>
        </p:nvSpPr>
        <p:spPr>
          <a:xfrm>
            <a:off x="485500" y="3438375"/>
            <a:ext cx="145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技术实现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a3bbc9c988_1_11"/>
          <p:cNvSpPr txBox="1"/>
          <p:nvPr/>
        </p:nvSpPr>
        <p:spPr>
          <a:xfrm>
            <a:off x="2472424" y="3308200"/>
            <a:ext cx="248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NVME over Fabric as internal bus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Erasure coding across D-node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Eliminate Dual-port SSD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g3a3bbc9c988_1_11"/>
          <p:cNvSpPr txBox="1"/>
          <p:nvPr/>
        </p:nvSpPr>
        <p:spPr>
          <a:xfrm>
            <a:off x="5990500" y="3245925"/>
            <a:ext cx="28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Extended PCIE as internal bus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Erasure coding across symmetric nodes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Eliminate Dual-port SSD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4" name="Google Shape;774;g3a3bbc9c988_1_11"/>
          <p:cNvCxnSpPr/>
          <p:nvPr/>
        </p:nvCxnSpPr>
        <p:spPr>
          <a:xfrm flipH="1" rot="10800000">
            <a:off x="237450" y="4104113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g3a3bbc9c988_1_11"/>
          <p:cNvSpPr txBox="1"/>
          <p:nvPr/>
        </p:nvSpPr>
        <p:spPr>
          <a:xfrm>
            <a:off x="761075" y="4367875"/>
            <a:ext cx="145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应用扩展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a3bbc9c988_1_11"/>
          <p:cNvSpPr txBox="1"/>
          <p:nvPr/>
        </p:nvSpPr>
        <p:spPr>
          <a:xfrm>
            <a:off x="2628200" y="4367875"/>
            <a:ext cx="22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D-node 支持大数据应用程序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g3a3bbc9c988_1_11"/>
          <p:cNvSpPr txBox="1"/>
          <p:nvPr/>
        </p:nvSpPr>
        <p:spPr>
          <a:xfrm>
            <a:off x="6119450" y="4325650"/>
            <a:ext cx="227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超融合模式支持任何应用程序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bf591bcd05_0_434"/>
          <p:cNvSpPr txBox="1"/>
          <p:nvPr>
            <p:ph idx="4294967295" type="title"/>
          </p:nvPr>
        </p:nvSpPr>
        <p:spPr>
          <a:xfrm>
            <a:off x="135270" y="181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晶格计算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市场策略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83" name="Google Shape;783;g3bf591bcd05_0_434"/>
          <p:cNvCxnSpPr/>
          <p:nvPr/>
        </p:nvCxnSpPr>
        <p:spPr>
          <a:xfrm flipH="1" rot="10800000">
            <a:off x="128075" y="849375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g3bf591bcd05_0_434"/>
          <p:cNvCxnSpPr/>
          <p:nvPr/>
        </p:nvCxnSpPr>
        <p:spPr>
          <a:xfrm flipH="1" rot="10800000">
            <a:off x="128075" y="1563879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g3bf591bcd05_0_434"/>
          <p:cNvCxnSpPr/>
          <p:nvPr/>
        </p:nvCxnSpPr>
        <p:spPr>
          <a:xfrm flipH="1" rot="10800000">
            <a:off x="183450" y="3245913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bf591bcd05_0_434"/>
          <p:cNvSpPr txBox="1"/>
          <p:nvPr/>
        </p:nvSpPr>
        <p:spPr>
          <a:xfrm>
            <a:off x="761074" y="2184625"/>
            <a:ext cx="118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全闪存/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超融合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g3bf591bcd05_0_434"/>
          <p:cNvSpPr txBox="1"/>
          <p:nvPr/>
        </p:nvSpPr>
        <p:spPr>
          <a:xfrm>
            <a:off x="585475" y="3817525"/>
            <a:ext cx="145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KFNative™</a:t>
            </a:r>
            <a:endParaRPr b="1" sz="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g3bf591bcd05_0_434"/>
          <p:cNvSpPr txBox="1"/>
          <p:nvPr/>
        </p:nvSpPr>
        <p:spPr>
          <a:xfrm>
            <a:off x="2464375" y="1779000"/>
            <a:ext cx="2422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和一线 SSD 厂商合作,主打企业级市场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和系统集成厂商合作,增加产品附加价值和可区分性, 进入私有云市场</a:t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9" name="Google Shape;789;g3bf591bcd05_0_434"/>
          <p:cNvCxnSpPr/>
          <p:nvPr/>
        </p:nvCxnSpPr>
        <p:spPr>
          <a:xfrm flipH="1" rot="10800000">
            <a:off x="327975" y="4858288"/>
            <a:ext cx="8669100" cy="13500"/>
          </a:xfrm>
          <a:prstGeom prst="straightConnector1">
            <a:avLst/>
          </a:prstGeom>
          <a:noFill/>
          <a:ln cap="flat" cmpd="sng" w="28575">
            <a:solidFill>
              <a:srgbClr val="A2C4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g3bf591bcd05_0_434"/>
          <p:cNvSpPr txBox="1"/>
          <p:nvPr/>
        </p:nvSpPr>
        <p:spPr>
          <a:xfrm>
            <a:off x="3189950" y="1016125"/>
            <a:ext cx="145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国内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g3bf591bcd05_0_434"/>
          <p:cNvSpPr txBox="1"/>
          <p:nvPr/>
        </p:nvSpPr>
        <p:spPr>
          <a:xfrm>
            <a:off x="6357125" y="990175"/>
            <a:ext cx="145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海外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g3bf591bcd05_0_434"/>
          <p:cNvSpPr txBox="1"/>
          <p:nvPr/>
        </p:nvSpPr>
        <p:spPr>
          <a:xfrm>
            <a:off x="5656125" y="1772975"/>
            <a:ext cx="2422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以中小企业,学区为出发点,逐步推广产品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找品牌服务器厂商合作,进入企业级市场</a:t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g3bf591bcd05_0_434"/>
          <p:cNvSpPr txBox="1"/>
          <p:nvPr/>
        </p:nvSpPr>
        <p:spPr>
          <a:xfrm>
            <a:off x="2533825" y="3348025"/>
            <a:ext cx="2422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和一线 GPU 厂商合作,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进入数据中心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和系统集成厂商合作,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拓展企业级市场</a:t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g3bf591bcd05_0_434"/>
          <p:cNvSpPr txBox="1"/>
          <p:nvPr/>
        </p:nvSpPr>
        <p:spPr>
          <a:xfrm>
            <a:off x="5695400" y="3315625"/>
            <a:ext cx="2422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以大学和研究机构为出发点,逐步推广产品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找品牌服务器厂商合作,进入企业级市场</a:t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"/>
          <p:cNvSpPr txBox="1"/>
          <p:nvPr>
            <p:ph type="ctrTitle"/>
          </p:nvPr>
        </p:nvSpPr>
        <p:spPr>
          <a:xfrm>
            <a:off x="112750" y="80025"/>
            <a:ext cx="85206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3000">
                <a:solidFill>
                  <a:srgbClr val="F60A61"/>
                </a:solidFill>
                <a:latin typeface="Oswald"/>
                <a:ea typeface="Oswald"/>
                <a:cs typeface="Oswald"/>
                <a:sym typeface="Oswald"/>
              </a:rPr>
              <a:t>晶格计算</a:t>
            </a:r>
            <a:r>
              <a:rPr lang="en" sz="3000">
                <a:latin typeface="Oswald"/>
                <a:ea typeface="Oswald"/>
                <a:cs typeface="Oswald"/>
                <a:sym typeface="Oswald"/>
              </a:rPr>
              <a:t>发展规划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32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800" name="Google Shape;800;p11"/>
          <p:cNvGrpSpPr/>
          <p:nvPr/>
        </p:nvGrpSpPr>
        <p:grpSpPr>
          <a:xfrm>
            <a:off x="4208924" y="1621477"/>
            <a:ext cx="2428626" cy="1515098"/>
            <a:chOff x="4526674" y="2071551"/>
            <a:chExt cx="2428626" cy="1515098"/>
          </a:xfrm>
        </p:grpSpPr>
        <p:sp>
          <p:nvSpPr>
            <p:cNvPr id="801" name="Google Shape;801;p11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E116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2" name="Google Shape;802;p11"/>
            <p:cNvGrpSpPr/>
            <p:nvPr/>
          </p:nvGrpSpPr>
          <p:grpSpPr>
            <a:xfrm>
              <a:off x="4526674" y="2071551"/>
              <a:ext cx="2428626" cy="1515098"/>
              <a:chOff x="4526674" y="2071551"/>
              <a:chExt cx="2428626" cy="1515098"/>
            </a:xfrm>
          </p:grpSpPr>
          <p:grpSp>
            <p:nvGrpSpPr>
              <p:cNvPr id="803" name="Google Shape;803;p11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804" name="Google Shape;804;p1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05" name="Google Shape;805;p1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06" name="Google Shape;806;p11"/>
              <p:cNvSpPr txBox="1"/>
              <p:nvPr/>
            </p:nvSpPr>
            <p:spPr>
              <a:xfrm>
                <a:off x="4526674" y="3215249"/>
                <a:ext cx="9126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12 Month</a:t>
                </a:r>
                <a:endParaRPr b="1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07" name="Google Shape;807;p11"/>
              <p:cNvSpPr txBox="1"/>
              <p:nvPr/>
            </p:nvSpPr>
            <p:spPr>
              <a:xfrm>
                <a:off x="4701700" y="2071551"/>
                <a:ext cx="2253600" cy="99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lang="en" sz="1100">
                    <a:latin typeface="Roboto"/>
                    <a:ea typeface="Roboto"/>
                    <a:cs typeface="Roboto"/>
                    <a:sym typeface="Roboto"/>
                  </a:rPr>
                  <a:t>全闪产品客户交付</a:t>
                </a:r>
                <a:endParaRPr b="1" sz="11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" sz="1200">
                    <a:solidFill>
                      <a:srgbClr val="E91D63"/>
                    </a:solidFill>
                    <a:latin typeface="Oswald"/>
                    <a:ea typeface="Oswald"/>
                    <a:cs typeface="Oswald"/>
                    <a:sym typeface="Oswald"/>
                  </a:rPr>
                  <a:t>KFNative™ </a:t>
                </a:r>
                <a:r>
                  <a:rPr b="1"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开发完成</a:t>
                </a:r>
                <a:endParaRPr b="1" sz="1100"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808" name="Google Shape;808;p11"/>
          <p:cNvGrpSpPr/>
          <p:nvPr/>
        </p:nvGrpSpPr>
        <p:grpSpPr>
          <a:xfrm>
            <a:off x="6118048" y="2252525"/>
            <a:ext cx="2721152" cy="2150850"/>
            <a:chOff x="6435798" y="2702599"/>
            <a:chExt cx="2721152" cy="2150850"/>
          </a:xfrm>
        </p:grpSpPr>
        <p:sp>
          <p:nvSpPr>
            <p:cNvPr id="809" name="Google Shape;809;p11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840D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0" name="Google Shape;810;p11"/>
            <p:cNvGrpSpPr/>
            <p:nvPr/>
          </p:nvGrpSpPr>
          <p:grpSpPr>
            <a:xfrm>
              <a:off x="6435798" y="2702599"/>
              <a:ext cx="2715977" cy="2150850"/>
              <a:chOff x="6435798" y="2702599"/>
              <a:chExt cx="2715977" cy="2150850"/>
            </a:xfrm>
          </p:grpSpPr>
          <p:grpSp>
            <p:nvGrpSpPr>
              <p:cNvPr id="811" name="Google Shape;811;p11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812" name="Google Shape;812;p1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13" name="Google Shape;813;p1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4" name="Google Shape;814;p11"/>
              <p:cNvSpPr txBox="1"/>
              <p:nvPr/>
            </p:nvSpPr>
            <p:spPr>
              <a:xfrm>
                <a:off x="6435798" y="2702599"/>
                <a:ext cx="9336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18 Month</a:t>
                </a:r>
                <a:endParaRPr b="1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15" name="Google Shape;815;p11"/>
              <p:cNvSpPr txBox="1"/>
              <p:nvPr/>
            </p:nvSpPr>
            <p:spPr>
              <a:xfrm>
                <a:off x="6898175" y="3218449"/>
                <a:ext cx="2253600" cy="1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全闪产品客户铺开</a:t>
                </a:r>
                <a:endParaRPr b="1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" sz="1200">
                    <a:solidFill>
                      <a:srgbClr val="E91D63"/>
                    </a:solidFill>
                    <a:latin typeface="Oswald"/>
                    <a:ea typeface="Oswald"/>
                    <a:cs typeface="Oswald"/>
                    <a:sym typeface="Oswald"/>
                  </a:rPr>
                  <a:t>KFNative™ </a:t>
                </a:r>
                <a:r>
                  <a:rPr b="1" lang="en" sz="11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客户交付</a:t>
                </a:r>
                <a:endParaRPr b="1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t/>
                </a:r>
                <a:endParaRPr b="1" sz="1200">
                  <a:solidFill>
                    <a:srgbClr val="E91D63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</p:grpSp>
      </p:grpSp>
      <p:grpSp>
        <p:nvGrpSpPr>
          <p:cNvPr id="816" name="Google Shape;816;p11"/>
          <p:cNvGrpSpPr/>
          <p:nvPr/>
        </p:nvGrpSpPr>
        <p:grpSpPr>
          <a:xfrm>
            <a:off x="178251" y="978275"/>
            <a:ext cx="2728973" cy="2310627"/>
            <a:chOff x="495991" y="1857799"/>
            <a:chExt cx="2728973" cy="1728864"/>
          </a:xfrm>
        </p:grpSpPr>
        <p:sp>
          <p:nvSpPr>
            <p:cNvPr id="817" name="Google Shape;817;p11"/>
            <p:cNvSpPr/>
            <p:nvPr/>
          </p:nvSpPr>
          <p:spPr>
            <a:xfrm>
              <a:off x="932589" y="3095882"/>
              <a:ext cx="1958400" cy="92400"/>
            </a:xfrm>
            <a:prstGeom prst="rect">
              <a:avLst/>
            </a:prstGeom>
            <a:solidFill>
              <a:srgbClr val="E116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8" name="Google Shape;818;p11"/>
            <p:cNvGrpSpPr/>
            <p:nvPr/>
          </p:nvGrpSpPr>
          <p:grpSpPr>
            <a:xfrm>
              <a:off x="495991" y="1857799"/>
              <a:ext cx="2728973" cy="1728864"/>
              <a:chOff x="495991" y="1857799"/>
              <a:chExt cx="2728973" cy="1728864"/>
            </a:xfrm>
          </p:grpSpPr>
          <p:sp>
            <p:nvSpPr>
              <p:cNvPr id="819" name="Google Shape;819;p11"/>
              <p:cNvSpPr txBox="1"/>
              <p:nvPr/>
            </p:nvSpPr>
            <p:spPr>
              <a:xfrm>
                <a:off x="495991" y="3215263"/>
                <a:ext cx="871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0</a:t>
                </a:r>
                <a:endParaRPr b="1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820" name="Google Shape;820;p11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821" name="Google Shape;821;p11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22" name="Google Shape;822;p11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23" name="Google Shape;823;p11"/>
              <p:cNvSpPr txBox="1"/>
              <p:nvPr/>
            </p:nvSpPr>
            <p:spPr>
              <a:xfrm>
                <a:off x="744864" y="1857799"/>
                <a:ext cx="24801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lang="en" sz="1100">
                    <a:latin typeface="Roboto"/>
                    <a:ea typeface="Roboto"/>
                    <a:cs typeface="Roboto"/>
                    <a:sym typeface="Roboto"/>
                  </a:rPr>
                  <a:t>公司成立</a:t>
                </a:r>
                <a:endParaRPr b="1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建立 10 人左右的团队                        </a:t>
                </a:r>
                <a:r>
                  <a:rPr b="0" i="0" lang="en" sz="11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en" sz="1100">
                    <a:latin typeface="Roboto"/>
                    <a:ea typeface="Roboto"/>
                    <a:cs typeface="Roboto"/>
                    <a:sym typeface="Roboto"/>
                  </a:rPr>
                  <a:t>软硬件开发                                           系统集成调优 </a:t>
                </a:r>
                <a:r>
                  <a:rPr b="0" i="0" lang="en" sz="11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         </a:t>
                </a:r>
                <a:endParaRPr b="1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824" name="Google Shape;824;p11"/>
          <p:cNvGrpSpPr/>
          <p:nvPr/>
        </p:nvGrpSpPr>
        <p:grpSpPr>
          <a:xfrm>
            <a:off x="2207851" y="2252525"/>
            <a:ext cx="2501349" cy="1735651"/>
            <a:chOff x="2525601" y="2702599"/>
            <a:chExt cx="2501349" cy="1735651"/>
          </a:xfrm>
        </p:grpSpPr>
        <p:sp>
          <p:nvSpPr>
            <p:cNvPr id="825" name="Google Shape;825;p11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840D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6" name="Google Shape;826;p11"/>
            <p:cNvGrpSpPr/>
            <p:nvPr/>
          </p:nvGrpSpPr>
          <p:grpSpPr>
            <a:xfrm>
              <a:off x="2525601" y="2702599"/>
              <a:ext cx="2501349" cy="1735651"/>
              <a:chOff x="2525601" y="2702599"/>
              <a:chExt cx="2501349" cy="1735651"/>
            </a:xfrm>
          </p:grpSpPr>
          <p:sp>
            <p:nvSpPr>
              <p:cNvPr id="827" name="Google Shape;827;p11"/>
              <p:cNvSpPr txBox="1"/>
              <p:nvPr/>
            </p:nvSpPr>
            <p:spPr>
              <a:xfrm>
                <a:off x="2525601" y="2702599"/>
                <a:ext cx="9288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6 Month</a:t>
                </a:r>
                <a:endParaRPr b="1" i="0" sz="12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828" name="Google Shape;828;p11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829" name="Google Shape;829;p11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830" name="Google Shape;830;p11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" name="Google Shape;831;p11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lang="en" sz="1100">
                    <a:latin typeface="Roboto"/>
                    <a:ea typeface="Roboto"/>
                    <a:cs typeface="Roboto"/>
                    <a:sym typeface="Roboto"/>
                  </a:rPr>
                  <a:t>全闪产品开发完成</a:t>
                </a:r>
                <a:endParaRPr b="1" i="0" sz="11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" sz="1200">
                    <a:solidFill>
                      <a:srgbClr val="E91D63"/>
                    </a:solidFill>
                    <a:latin typeface="Oswald"/>
                    <a:ea typeface="Oswald"/>
                    <a:cs typeface="Oswald"/>
                    <a:sym typeface="Oswald"/>
                  </a:rPr>
                  <a:t>KFNative™ </a:t>
                </a:r>
                <a:r>
                  <a:rPr b="1" lang="en" sz="1100">
                    <a:solidFill>
                      <a:schemeClr val="dk1"/>
                    </a:solidFill>
                    <a:latin typeface="Oswald"/>
                    <a:ea typeface="Oswald"/>
                    <a:cs typeface="Oswald"/>
                    <a:sym typeface="Oswald"/>
                  </a:rPr>
                  <a:t>端对端跑通</a:t>
                </a:r>
                <a:endParaRPr b="1" sz="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i="0" sz="10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cxnSp>
        <p:nvCxnSpPr>
          <p:cNvPr id="832" name="Google Shape;832;p11"/>
          <p:cNvCxnSpPr/>
          <p:nvPr/>
        </p:nvCxnSpPr>
        <p:spPr>
          <a:xfrm rot="10800000">
            <a:off x="625200" y="4322275"/>
            <a:ext cx="16011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3" name="Google Shape;833;p11"/>
          <p:cNvCxnSpPr/>
          <p:nvPr/>
        </p:nvCxnSpPr>
        <p:spPr>
          <a:xfrm flipH="1" rot="10800000">
            <a:off x="4676300" y="4359025"/>
            <a:ext cx="7914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4" name="Google Shape;834;p11"/>
          <p:cNvSpPr txBox="1"/>
          <p:nvPr/>
        </p:nvSpPr>
        <p:spPr>
          <a:xfrm>
            <a:off x="2103425" y="4100725"/>
            <a:ext cx="2354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" sz="1350" u="none" cap="none" strike="noStrike">
                <a:solidFill>
                  <a:srgbClr val="93C47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1千万 </a:t>
            </a:r>
            <a:r>
              <a:rPr b="1" i="0" lang="en" sz="1750" u="none" cap="none" strike="noStrike">
                <a:solidFill>
                  <a:srgbClr val="38761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¥</a:t>
            </a: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Seed Funding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3"/>
          <p:cNvSpPr txBox="1"/>
          <p:nvPr>
            <p:ph type="title"/>
          </p:nvPr>
        </p:nvSpPr>
        <p:spPr>
          <a:xfrm>
            <a:off x="311700" y="392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创始团队</a:t>
            </a:r>
            <a:endParaRPr/>
          </a:p>
        </p:txBody>
      </p:sp>
      <p:sp>
        <p:nvSpPr>
          <p:cNvPr id="840" name="Google Shape;840;p13"/>
          <p:cNvSpPr txBox="1"/>
          <p:nvPr>
            <p:ph idx="1" type="body"/>
          </p:nvPr>
        </p:nvSpPr>
        <p:spPr>
          <a:xfrm>
            <a:off x="1733450" y="848975"/>
            <a:ext cx="6564900" cy="1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周为，</a:t>
            </a:r>
            <a:r>
              <a:rPr lang="en"/>
              <a:t>中科大，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斯坦福应用物理系硕士。二十多年存储研发经验。有在 Altera，Marvell， SK Hynix 等知名公司任研发和管理工作，带百人研发团队。拥有存储架构，互联多项专利。现任 SK Hynix 资深研发总监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41" name="Google Shape;841;p13"/>
          <p:cNvSpPr txBox="1"/>
          <p:nvPr>
            <p:ph idx="1" type="body"/>
          </p:nvPr>
        </p:nvSpPr>
        <p:spPr>
          <a:xfrm>
            <a:off x="1733450" y="2619875"/>
            <a:ext cx="656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K. Wong，软件架构总负责，二十多年软件，固件，系统研发经验。Marvell， SK Hynix 主任工程师。</a:t>
            </a:r>
            <a:endParaRPr/>
          </a:p>
        </p:txBody>
      </p:sp>
      <p:sp>
        <p:nvSpPr>
          <p:cNvPr id="842" name="Google Shape;842;p13"/>
          <p:cNvSpPr txBox="1"/>
          <p:nvPr>
            <p:ph idx="1" type="body"/>
          </p:nvPr>
        </p:nvSpPr>
        <p:spPr>
          <a:xfrm>
            <a:off x="1733450" y="3686675"/>
            <a:ext cx="65649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X. Chen，技术总负责，二十多年软件，固件，系统研发经验，资深 Linux 内核开发者，在多家存储系统公司任高级技术职位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Stella</dc:creator>
</cp:coreProperties>
</file>