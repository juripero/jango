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Source Code Pro"/>
      <p:regular r:id="rId29"/>
      <p:bold r:id="rId30"/>
      <p:italic r:id="rId31"/>
      <p:boldItalic r:id="rId32"/>
    </p:embeddedFont>
    <p:embeddedFont>
      <p:font typeface="Oswal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iJ+PJ2ONq8c4ZqrQrnNlVPGK7j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76D884-0169-49BB-A240-25CA473EE95B}">
  <a:tblStyle styleId="{9A76D884-0169-49BB-A240-25CA473EE95B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5"/>
          </a:solidFill>
        </a:fill>
      </a:tcStyle>
    </a:wholeTbl>
    <a:band1H>
      <a:tcTxStyle/>
      <a:tcStyle>
        <a:fill>
          <a:solidFill>
            <a:srgbClr val="007784"/>
          </a:solidFill>
        </a:fill>
      </a:tcStyle>
    </a:band1H>
    <a:band2H>
      <a:tcTxStyle/>
    </a:band2H>
    <a:band1V>
      <a:tcTxStyle/>
      <a:tcStyle>
        <a:fill>
          <a:solidFill>
            <a:srgbClr val="007784"/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</a:tcBdr>
        <a:fill>
          <a:solidFill>
            <a:srgbClr val="007784"/>
          </a:solidFill>
        </a:fill>
      </a:tcStyle>
    </a:lastCol>
    <a:firstCol>
      <a:tcTxStyle b="on" i="off"/>
      <a:tcStyle>
        <a:tcBdr>
          <a:righ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</a:tcBdr>
        <a:fill>
          <a:solidFill>
            <a:srgbClr val="007784"/>
          </a:solidFill>
        </a:fill>
      </a:tcStyle>
    </a:firstCol>
    <a:lastRow>
      <a:tcTxStyle b="on" i="off"/>
      <a:tcStyle>
        <a:tcBdr>
          <a:top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00636E"/>
          </a:solidFill>
        </a:fill>
      </a:tcStyle>
    </a:lastRow>
    <a:s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seCell>
    <a:s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swCell>
    <a:firstRow>
      <a:tcTxStyle b="on" i="off"/>
      <a:tcStyle>
        <a:tcBdr>
          <a:bottom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neCell>
    <a:n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SourceCodePro-regular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SourceCodePro-italic.fntdata"/><Relationship Id="rId30" Type="http://schemas.openxmlformats.org/officeDocument/2006/relationships/font" Target="fonts/SourceCodePro-bold.fntdata"/><Relationship Id="rId11" Type="http://schemas.openxmlformats.org/officeDocument/2006/relationships/slide" Target="slides/slide3.xml"/><Relationship Id="rId33" Type="http://schemas.openxmlformats.org/officeDocument/2006/relationships/font" Target="fonts/Oswald-regular.fntdata"/><Relationship Id="rId10" Type="http://schemas.openxmlformats.org/officeDocument/2006/relationships/slide" Target="slides/slide2.xml"/><Relationship Id="rId32" Type="http://schemas.openxmlformats.org/officeDocument/2006/relationships/font" Target="fonts/SourceCodePro-boldItalic.fntdata"/><Relationship Id="rId13" Type="http://schemas.openxmlformats.org/officeDocument/2006/relationships/slide" Target="slides/slide5.xml"/><Relationship Id="rId35" Type="http://customschemas.google.com/relationships/presentationmetadata" Target="metadata"/><Relationship Id="rId12" Type="http://schemas.openxmlformats.org/officeDocument/2006/relationships/slide" Target="slides/slide4.xml"/><Relationship Id="rId34" Type="http://schemas.openxmlformats.org/officeDocument/2006/relationships/font" Target="fonts/Oswald-bold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e89de9e37_2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be89de9e37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89de9e37_2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be89de9e37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e89de9e37_2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be89de9e37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812dc062f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9812dc062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812dc062f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9812dc062f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e89de9e37_2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be89de9e37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be89de9e37_2_2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be89de9e37_2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e89de9e37_2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be89de9e37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e89de9e37_2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be89de9e37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e89de9e37_2_2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be89de9e37_2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5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9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20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21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21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23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23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5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25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25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2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27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" name="Google Shape;64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e89de9e37_2_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9" name="Google Shape;109;g3be89de9e37_2_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g3be89de9e37_2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e89de9e37_2_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g3be89de9e37_2_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g3be89de9e37_2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89de9e37_2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7" name="Google Shape;117;g3be89de9e37_2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89de9e37_2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g3be89de9e37_2_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g3be89de9e37_2_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2" name="Google Shape;122;g3be89de9e37_2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e89de9e37_2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g3be89de9e37_2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e89de9e37_2_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8" name="Google Shape;128;g3be89de9e37_2_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g3be89de9e37_2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e89de9e37_2_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2" name="Google Shape;132;g3be89de9e37_2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e89de9e37_2_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e89de9e37_2_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6" name="Google Shape;136;g3be89de9e37_2_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7" name="Google Shape;137;g3be89de9e37_2_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g3be89de9e37_2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e89de9e37_2_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1" name="Google Shape;141;g3be89de9e37_2_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e89de9e37_2_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4" name="Google Shape;144;g3be89de9e37_2_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g3be89de9e37_2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e89de9e37_2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e89de9e37_2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g3be89de9e37_2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g3be89de9e37_2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11" Type="http://schemas.openxmlformats.org/officeDocument/2006/relationships/image" Target="../media/image45.png"/><Relationship Id="rId10" Type="http://schemas.openxmlformats.org/officeDocument/2006/relationships/image" Target="../media/image30.png"/><Relationship Id="rId12" Type="http://schemas.openxmlformats.org/officeDocument/2006/relationships/image" Target="../media/image34.png"/><Relationship Id="rId9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9" Type="http://schemas.openxmlformats.org/officeDocument/2006/relationships/image" Target="../media/image37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Relationship Id="rId7" Type="http://schemas.openxmlformats.org/officeDocument/2006/relationships/image" Target="../media/image39.png"/><Relationship Id="rId8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37.png"/><Relationship Id="rId7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KubeFlash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2500"/>
              <a:t>Revolutionary All Flash Technology For HCI and Kubernetes 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company data&#10;&#10;AI-generated content may be incorrect." id="157" name="Google Shape;157;g3be89de9e37_2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828" y="859574"/>
            <a:ext cx="5036346" cy="39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be89de9e37_2_45"/>
          <p:cNvSpPr txBox="1"/>
          <p:nvPr/>
        </p:nvSpPr>
        <p:spPr>
          <a:xfrm>
            <a:off x="311305" y="4764824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Source: https://www.researchgate.net/</a:t>
            </a:r>
            <a:endParaRPr/>
          </a:p>
        </p:txBody>
      </p:sp>
      <p:sp>
        <p:nvSpPr>
          <p:cNvPr id="159" name="Google Shape;159;g3be89de9e37_2_45"/>
          <p:cNvSpPr txBox="1"/>
          <p:nvPr/>
        </p:nvSpPr>
        <p:spPr>
          <a:xfrm>
            <a:off x="310081" y="262518"/>
            <a:ext cx="951069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Cost of AI data centers grows even faster than LLM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g3be89de9e37_2_45"/>
          <p:cNvGrpSpPr/>
          <p:nvPr/>
        </p:nvGrpSpPr>
        <p:grpSpPr>
          <a:xfrm>
            <a:off x="5049139" y="823566"/>
            <a:ext cx="4066751" cy="3998428"/>
            <a:chOff x="5049139" y="823566"/>
            <a:chExt cx="4066751" cy="3998428"/>
          </a:xfrm>
        </p:grpSpPr>
        <p:sp>
          <p:nvSpPr>
            <p:cNvPr id="161" name="Google Shape;161;g3be89de9e37_2_45"/>
            <p:cNvSpPr txBox="1"/>
            <p:nvPr/>
          </p:nvSpPr>
          <p:spPr>
            <a:xfrm>
              <a:off x="7712927" y="1015227"/>
              <a:ext cx="1347439" cy="438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E91D63"/>
                  </a:solidFill>
                  <a:latin typeface="Arial"/>
                  <a:ea typeface="Arial"/>
                  <a:cs typeface="Arial"/>
                  <a:sym typeface="Arial"/>
                </a:rPr>
                <a:t>$5B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E91D63"/>
                  </a:solidFill>
                  <a:latin typeface="Arial"/>
                  <a:ea typeface="Arial"/>
                  <a:cs typeface="Arial"/>
                  <a:sym typeface="Arial"/>
                </a:rPr>
                <a:t>(50,000+ GPUs)</a:t>
              </a:r>
              <a:endParaRPr/>
            </a:p>
          </p:txBody>
        </p:sp>
        <p:sp>
          <p:nvSpPr>
            <p:cNvPr id="162" name="Google Shape;162;g3be89de9e37_2_45"/>
            <p:cNvSpPr txBox="1"/>
            <p:nvPr/>
          </p:nvSpPr>
          <p:spPr>
            <a:xfrm>
              <a:off x="6319023" y="4560384"/>
              <a:ext cx="22395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Model Complexity</a:t>
              </a:r>
              <a:endParaRPr/>
            </a:p>
          </p:txBody>
        </p:sp>
        <p:sp>
          <p:nvSpPr>
            <p:cNvPr id="163" name="Google Shape;163;g3be89de9e37_2_45"/>
            <p:cNvSpPr txBox="1"/>
            <p:nvPr/>
          </p:nvSpPr>
          <p:spPr>
            <a:xfrm rot="-5400000">
              <a:off x="3512632" y="2660029"/>
              <a:ext cx="33500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Estimated Capital Expenditure ($ millions)</a:t>
              </a:r>
              <a:endParaRPr/>
            </a:p>
          </p:txBody>
        </p:sp>
        <p:grpSp>
          <p:nvGrpSpPr>
            <p:cNvPr id="164" name="Google Shape;164;g3be89de9e37_2_45"/>
            <p:cNvGrpSpPr/>
            <p:nvPr/>
          </p:nvGrpSpPr>
          <p:grpSpPr>
            <a:xfrm>
              <a:off x="5250134" y="823566"/>
              <a:ext cx="3865756" cy="3862966"/>
              <a:chOff x="5250134" y="823566"/>
              <a:chExt cx="3865756" cy="3862966"/>
            </a:xfrm>
          </p:grpSpPr>
          <p:pic>
            <p:nvPicPr>
              <p:cNvPr id="165" name="Google Shape;165;g3be89de9e37_2_4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250134" y="823566"/>
                <a:ext cx="3865756" cy="38629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" name="Google Shape;166;g3be89de9e37_2_45"/>
              <p:cNvSpPr/>
              <p:nvPr/>
            </p:nvSpPr>
            <p:spPr>
              <a:xfrm>
                <a:off x="8293964" y="1423003"/>
                <a:ext cx="310815" cy="2947736"/>
              </a:xfrm>
              <a:prstGeom prst="rect">
                <a:avLst/>
              </a:prstGeom>
              <a:solidFill>
                <a:srgbClr val="E91D63"/>
              </a:solidFill>
              <a:ln cap="flat" cmpd="sng" w="25400">
                <a:solidFill>
                  <a:srgbClr val="E91D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g3be89de9e37_2_45"/>
              <p:cNvSpPr/>
              <p:nvPr/>
            </p:nvSpPr>
            <p:spPr>
              <a:xfrm>
                <a:off x="7243891" y="4231438"/>
                <a:ext cx="310815" cy="139752"/>
              </a:xfrm>
              <a:prstGeom prst="rect">
                <a:avLst/>
              </a:prstGeom>
              <a:solidFill>
                <a:srgbClr val="E91D63"/>
              </a:solidFill>
              <a:ln cap="flat" cmpd="sng" w="25400">
                <a:solidFill>
                  <a:srgbClr val="E91D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g3be89de9e37_2_45"/>
              <p:cNvSpPr/>
              <p:nvPr/>
            </p:nvSpPr>
            <p:spPr>
              <a:xfrm>
                <a:off x="6189172" y="4361535"/>
                <a:ext cx="310815" cy="9693"/>
              </a:xfrm>
              <a:prstGeom prst="rect">
                <a:avLst/>
              </a:prstGeom>
              <a:solidFill>
                <a:srgbClr val="E91D63"/>
              </a:solidFill>
              <a:ln cap="flat" cmpd="sng" w="25400">
                <a:solidFill>
                  <a:srgbClr val="E91D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" name="Google Shape;169;g3be89de9e37_2_45"/>
            <p:cNvSpPr txBox="1"/>
            <p:nvPr/>
          </p:nvSpPr>
          <p:spPr>
            <a:xfrm>
              <a:off x="5772956" y="3896569"/>
              <a:ext cx="1115122" cy="4385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E91D63"/>
                  </a:solidFill>
                  <a:latin typeface="Arial"/>
                  <a:ea typeface="Arial"/>
                  <a:cs typeface="Arial"/>
                  <a:sym typeface="Arial"/>
                </a:rPr>
                <a:t>$15M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cap="none" strike="noStrike">
                  <a:solidFill>
                    <a:srgbClr val="E91D63"/>
                  </a:solidFill>
                  <a:latin typeface="Arial"/>
                  <a:ea typeface="Arial"/>
                  <a:cs typeface="Arial"/>
                  <a:sym typeface="Arial"/>
                </a:rPr>
                <a:t>(~256 GPUs)</a:t>
              </a:r>
              <a:endParaRPr/>
            </a:p>
          </p:txBody>
        </p:sp>
        <p:sp>
          <p:nvSpPr>
            <p:cNvPr id="170" name="Google Shape;170;g3be89de9e37_2_45"/>
            <p:cNvSpPr txBox="1"/>
            <p:nvPr/>
          </p:nvSpPr>
          <p:spPr>
            <a:xfrm>
              <a:off x="6834767" y="3826264"/>
              <a:ext cx="1115122" cy="430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E91D63"/>
                  </a:solidFill>
                  <a:latin typeface="Arial"/>
                  <a:ea typeface="Arial"/>
                  <a:cs typeface="Arial"/>
                  <a:sym typeface="Arial"/>
                </a:rPr>
                <a:t>$250M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E91D63"/>
                  </a:solidFill>
                  <a:latin typeface="Arial"/>
                  <a:ea typeface="Arial"/>
                  <a:cs typeface="Arial"/>
                  <a:sym typeface="Arial"/>
                </a:rPr>
                <a:t>(~4,000 GPUs)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e89de9e37_2_64"/>
          <p:cNvSpPr txBox="1"/>
          <p:nvPr/>
        </p:nvSpPr>
        <p:spPr>
          <a:xfrm>
            <a:off x="310081" y="262518"/>
            <a:ext cx="915757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The Need to Democratize AI Data Centers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6" name="Google Shape;176;g3be89de9e37_2_64"/>
          <p:cNvGraphicFramePr/>
          <p:nvPr/>
        </p:nvGraphicFramePr>
        <p:xfrm>
          <a:off x="436757" y="102489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{9A76D884-0169-49BB-A240-25CA473EE95B}</a:tableStyleId>
              </a:tblPr>
              <a:tblGrid>
                <a:gridCol w="1584150"/>
                <a:gridCol w="2125575"/>
                <a:gridCol w="2296025"/>
              </a:tblGrid>
              <a:tr h="50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FFFFFF"/>
                          </a:solidFill>
                        </a:rPr>
                        <a:t>Public AI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FFFFFF"/>
                          </a:solidFill>
                        </a:rPr>
                        <a:t>Private AI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FFFFFF"/>
                          </a:solidFill>
                        </a:rPr>
                        <a:t>Data Privacy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FFFFFF"/>
                          </a:solidFill>
                        </a:rPr>
                        <a:t>Shared environment; risk of data leakage.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FFFFFF"/>
                          </a:solidFill>
                        </a:rPr>
                        <a:t>Air-gapped security; zero external exposure.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FFFFFF"/>
                          </a:solidFill>
                        </a:rPr>
                        <a:t>IP Protection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FFFFFF"/>
                          </a:solidFill>
                        </a:rPr>
                        <a:t>IP may inadvertently "train" a competitor's model.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FFFFFF"/>
                          </a:solidFill>
                        </a:rPr>
                        <a:t>100% ownership of model weights and logic.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FFFFFF"/>
                          </a:solidFill>
                        </a:rPr>
                        <a:t>Cost Profile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FFFFFF"/>
                          </a:solidFill>
                        </a:rPr>
                        <a:t>Variable OpEx; high scaling "tax" at volume.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FFFFFF"/>
                          </a:solidFill>
                        </a:rPr>
                        <a:t>Fixed CapEx; lower TCO for high-utilization.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FFFFFF"/>
                          </a:solidFill>
                        </a:rPr>
                        <a:t>Customization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FFFFFF"/>
                          </a:solidFill>
                        </a:rPr>
                        <a:t>General-purpose; limited hardware tuning.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FFFFFF"/>
                          </a:solidFill>
                        </a:rPr>
                        <a:t>Bespoke architecture for specific domain tasks.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FFFFFF"/>
                          </a:solidFill>
                        </a:rPr>
                        <a:t>Governance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FFFFFF"/>
                          </a:solidFill>
                        </a:rPr>
                        <a:t>Subject to vendor Terms of Service (ToS).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FFFFFF"/>
                          </a:solidFill>
                        </a:rPr>
                        <a:t>Full control over compliance and ethics.</a:t>
                      </a:r>
                      <a:endParaRPr/>
                    </a:p>
                  </a:txBody>
                  <a:tcPr marT="76200" marB="76200" marR="114300" marL="114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g3be89de9e37_2_64"/>
          <p:cNvSpPr txBox="1"/>
          <p:nvPr/>
        </p:nvSpPr>
        <p:spPr>
          <a:xfrm>
            <a:off x="6540825" y="1354409"/>
            <a:ext cx="2582996" cy="2846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828282"/>
                </a:solidFill>
                <a:latin typeface="Oswald"/>
                <a:ea typeface="Oswald"/>
                <a:cs typeface="Oswald"/>
                <a:sym typeface="Oswald"/>
              </a:rPr>
              <a:t>Despite the necessity of private AI, &gt;</a:t>
            </a:r>
            <a:r>
              <a:rPr b="0" i="0" lang="en" sz="2100" u="none" cap="none" strike="noStrike">
                <a:solidFill>
                  <a:srgbClr val="828282"/>
                </a:solidFill>
                <a:latin typeface="Oswald"/>
                <a:ea typeface="Oswald"/>
                <a:cs typeface="Oswald"/>
                <a:sym typeface="Oswald"/>
              </a:rPr>
              <a:t>99.9%</a:t>
            </a:r>
            <a:r>
              <a:rPr b="0" i="0" lang="en" sz="2200" u="none" cap="none" strike="noStrike">
                <a:solidFill>
                  <a:srgbClr val="828282"/>
                </a:solidFill>
                <a:latin typeface="Oswald"/>
                <a:ea typeface="Oswald"/>
                <a:cs typeface="Oswald"/>
                <a:sym typeface="Oswald"/>
              </a:rPr>
              <a:t> of companies </a:t>
            </a:r>
            <a:r>
              <a:rPr b="1" i="0" lang="en" sz="25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cannot</a:t>
            </a:r>
            <a:r>
              <a:rPr b="0" i="0" lang="en" sz="2500" u="none" cap="none" strike="noStrike">
                <a:solidFill>
                  <a:srgbClr val="828282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0" i="0" lang="en" sz="2200" u="none" cap="none" strike="noStrike">
                <a:solidFill>
                  <a:srgbClr val="828282"/>
                </a:solidFill>
                <a:latin typeface="Oswald"/>
                <a:ea typeface="Oswald"/>
                <a:cs typeface="Oswald"/>
                <a:sym typeface="Oswald"/>
              </a:rPr>
              <a:t>afford owning proprietary AI data centers, limiting AI's proliferation in enterprise applications.</a:t>
            </a:r>
            <a:endParaRPr b="0" i="0" sz="1400" u="none" cap="none" strike="noStrike">
              <a:solidFill>
                <a:srgbClr val="82828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e89de9e37_2_71"/>
          <p:cNvSpPr txBox="1"/>
          <p:nvPr/>
        </p:nvSpPr>
        <p:spPr>
          <a:xfrm>
            <a:off x="310081" y="262518"/>
            <a:ext cx="915757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AI Data Center Cost Breakdown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be89de9e37_2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8694" y="877694"/>
            <a:ext cx="5506146" cy="399167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be89de9e37_2_71"/>
          <p:cNvSpPr txBox="1"/>
          <p:nvPr/>
        </p:nvSpPr>
        <p:spPr>
          <a:xfrm>
            <a:off x="1429850" y="4481396"/>
            <a:ext cx="6755409" cy="430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All cost factors are based on </a:t>
            </a:r>
            <a:r>
              <a:rPr b="1" i="0" lang="en" sz="22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the number of GPUs</a:t>
            </a:r>
            <a:r>
              <a:rPr b="0" i="0" lang="en" sz="2200" u="none" cap="none" strike="noStrike">
                <a:solidFill>
                  <a:srgbClr val="828282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0" i="0" lang="en" sz="2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provisioned.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"/>
          <p:cNvSpPr txBox="1"/>
          <p:nvPr>
            <p:ph idx="4294967295" type="title"/>
          </p:nvPr>
        </p:nvSpPr>
        <p:spPr>
          <a:xfrm>
            <a:off x="169338" y="3395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KubeFlash 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extends PCI Express for server interconnect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0" name="Google Shape;190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2995646" y="24698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2745" y="26218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1792" y="2621825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4595846" y="24698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945" y="26218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1992" y="2621825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1383639" y="24698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0738" y="26218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9785" y="2621825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2995646" y="18602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2745" y="20122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1792" y="2012225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4595846" y="18602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945" y="20122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1992" y="2012225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1383639" y="18602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0738" y="20122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9785" y="2012225"/>
            <a:ext cx="168890" cy="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"/>
          <p:cNvSpPr/>
          <p:nvPr/>
        </p:nvSpPr>
        <p:spPr>
          <a:xfrm>
            <a:off x="697550" y="835175"/>
            <a:ext cx="1578300" cy="49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6D9E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GPU pooling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DIstributed AI training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HPC computing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911150" y="4442375"/>
            <a:ext cx="1578300" cy="49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6D9E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Memory pooling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Big Data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VR/AR/Rendering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4726225" y="791225"/>
            <a:ext cx="1685100" cy="49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6D9E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NVME SSD pooling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performance storage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4656175" y="4477175"/>
            <a:ext cx="4395900" cy="321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3D85C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Lattice Fabric: Flexible composition, High performance, High utilization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2968067" y="36614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5166" y="38134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4212" y="3813446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4568267" y="36614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5366" y="38134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4412" y="3813446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1356060" y="36614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3159" y="38134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2206" y="3813446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2968067" y="30518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5166" y="32038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4212" y="3203846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4568267" y="30518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5366" y="32038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4412" y="3203846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1356060" y="30518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3159" y="32038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2206" y="3203846"/>
            <a:ext cx="168890" cy="29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3"/>
          <p:cNvCxnSpPr/>
          <p:nvPr/>
        </p:nvCxnSpPr>
        <p:spPr>
          <a:xfrm>
            <a:off x="2842694" y="21557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3"/>
          <p:cNvCxnSpPr/>
          <p:nvPr/>
        </p:nvCxnSpPr>
        <p:spPr>
          <a:xfrm>
            <a:off x="2828904" y="27653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3"/>
          <p:cNvCxnSpPr/>
          <p:nvPr/>
        </p:nvCxnSpPr>
        <p:spPr>
          <a:xfrm>
            <a:off x="2815115" y="3340127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3"/>
          <p:cNvCxnSpPr/>
          <p:nvPr/>
        </p:nvCxnSpPr>
        <p:spPr>
          <a:xfrm>
            <a:off x="2807863" y="3935937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3"/>
          <p:cNvCxnSpPr/>
          <p:nvPr/>
        </p:nvCxnSpPr>
        <p:spPr>
          <a:xfrm>
            <a:off x="4442894" y="21557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3"/>
          <p:cNvCxnSpPr/>
          <p:nvPr/>
        </p:nvCxnSpPr>
        <p:spPr>
          <a:xfrm>
            <a:off x="4429104" y="27653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3"/>
          <p:cNvCxnSpPr/>
          <p:nvPr/>
        </p:nvCxnSpPr>
        <p:spPr>
          <a:xfrm>
            <a:off x="4415315" y="3340127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3"/>
          <p:cNvCxnSpPr/>
          <p:nvPr/>
        </p:nvCxnSpPr>
        <p:spPr>
          <a:xfrm>
            <a:off x="4408063" y="3935937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3"/>
          <p:cNvCxnSpPr>
            <a:stCxn id="205" idx="1"/>
          </p:cNvCxnSpPr>
          <p:nvPr/>
        </p:nvCxnSpPr>
        <p:spPr>
          <a:xfrm>
            <a:off x="1383639" y="2107425"/>
            <a:ext cx="107100" cy="483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3"/>
          <p:cNvCxnSpPr>
            <a:endCxn id="202" idx="3"/>
          </p:cNvCxnSpPr>
          <p:nvPr/>
        </p:nvCxnSpPr>
        <p:spPr>
          <a:xfrm flipH="1" rot="10800000">
            <a:off x="6031871" y="2107425"/>
            <a:ext cx="97500" cy="76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3"/>
          <p:cNvCxnSpPr/>
          <p:nvPr/>
        </p:nvCxnSpPr>
        <p:spPr>
          <a:xfrm>
            <a:off x="1437794" y="1839319"/>
            <a:ext cx="4613100" cy="13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3"/>
          <p:cNvCxnSpPr/>
          <p:nvPr/>
        </p:nvCxnSpPr>
        <p:spPr>
          <a:xfrm>
            <a:off x="1895600" y="23277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3"/>
          <p:cNvCxnSpPr/>
          <p:nvPr/>
        </p:nvCxnSpPr>
        <p:spPr>
          <a:xfrm>
            <a:off x="3495800" y="23277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3"/>
          <p:cNvCxnSpPr/>
          <p:nvPr/>
        </p:nvCxnSpPr>
        <p:spPr>
          <a:xfrm>
            <a:off x="5096000" y="23277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3"/>
          <p:cNvCxnSpPr/>
          <p:nvPr/>
        </p:nvCxnSpPr>
        <p:spPr>
          <a:xfrm>
            <a:off x="1895600" y="29373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3"/>
          <p:cNvCxnSpPr/>
          <p:nvPr/>
        </p:nvCxnSpPr>
        <p:spPr>
          <a:xfrm>
            <a:off x="3495800" y="29373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3"/>
          <p:cNvCxnSpPr/>
          <p:nvPr/>
        </p:nvCxnSpPr>
        <p:spPr>
          <a:xfrm>
            <a:off x="5096000" y="29373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3"/>
          <p:cNvCxnSpPr/>
          <p:nvPr/>
        </p:nvCxnSpPr>
        <p:spPr>
          <a:xfrm>
            <a:off x="1881810" y="348457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3"/>
          <p:cNvCxnSpPr/>
          <p:nvPr/>
        </p:nvCxnSpPr>
        <p:spPr>
          <a:xfrm>
            <a:off x="3482010" y="348457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3"/>
          <p:cNvCxnSpPr/>
          <p:nvPr/>
        </p:nvCxnSpPr>
        <p:spPr>
          <a:xfrm>
            <a:off x="5082210" y="348457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3"/>
          <p:cNvCxnSpPr>
            <a:stCxn id="205" idx="1"/>
            <a:endCxn id="205" idx="1"/>
          </p:cNvCxnSpPr>
          <p:nvPr/>
        </p:nvCxnSpPr>
        <p:spPr>
          <a:xfrm>
            <a:off x="1383639" y="21074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3"/>
          <p:cNvCxnSpPr>
            <a:stCxn id="205" idx="1"/>
          </p:cNvCxnSpPr>
          <p:nvPr/>
        </p:nvCxnSpPr>
        <p:spPr>
          <a:xfrm flipH="1" rot="10800000">
            <a:off x="1383639" y="1797225"/>
            <a:ext cx="68700" cy="310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3"/>
          <p:cNvCxnSpPr>
            <a:stCxn id="202" idx="3"/>
          </p:cNvCxnSpPr>
          <p:nvPr/>
        </p:nvCxnSpPr>
        <p:spPr>
          <a:xfrm rot="10800000">
            <a:off x="6002771" y="1838625"/>
            <a:ext cx="126600" cy="2688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3"/>
          <p:cNvCxnSpPr/>
          <p:nvPr/>
        </p:nvCxnSpPr>
        <p:spPr>
          <a:xfrm>
            <a:off x="1383639" y="2717025"/>
            <a:ext cx="107100" cy="483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3"/>
          <p:cNvCxnSpPr/>
          <p:nvPr/>
        </p:nvCxnSpPr>
        <p:spPr>
          <a:xfrm>
            <a:off x="1437794" y="2448919"/>
            <a:ext cx="4613100" cy="13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3"/>
          <p:cNvCxnSpPr/>
          <p:nvPr/>
        </p:nvCxnSpPr>
        <p:spPr>
          <a:xfrm flipH="1" rot="10800000">
            <a:off x="1383639" y="2406825"/>
            <a:ext cx="68700" cy="310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3"/>
          <p:cNvCxnSpPr/>
          <p:nvPr/>
        </p:nvCxnSpPr>
        <p:spPr>
          <a:xfrm flipH="1" rot="10800000">
            <a:off x="6039123" y="2717025"/>
            <a:ext cx="97500" cy="76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3"/>
          <p:cNvCxnSpPr/>
          <p:nvPr/>
        </p:nvCxnSpPr>
        <p:spPr>
          <a:xfrm rot="10800000">
            <a:off x="6010023" y="2448225"/>
            <a:ext cx="126600" cy="2688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3"/>
          <p:cNvCxnSpPr/>
          <p:nvPr/>
        </p:nvCxnSpPr>
        <p:spPr>
          <a:xfrm>
            <a:off x="1348808" y="3326625"/>
            <a:ext cx="107100" cy="483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3"/>
          <p:cNvCxnSpPr/>
          <p:nvPr/>
        </p:nvCxnSpPr>
        <p:spPr>
          <a:xfrm flipH="1" rot="10800000">
            <a:off x="5997040" y="3326625"/>
            <a:ext cx="97500" cy="76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3"/>
          <p:cNvCxnSpPr/>
          <p:nvPr/>
        </p:nvCxnSpPr>
        <p:spPr>
          <a:xfrm>
            <a:off x="1402962" y="3058519"/>
            <a:ext cx="4613100" cy="13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3"/>
          <p:cNvCxnSpPr/>
          <p:nvPr/>
        </p:nvCxnSpPr>
        <p:spPr>
          <a:xfrm flipH="1" rot="10800000">
            <a:off x="1348808" y="3016425"/>
            <a:ext cx="68700" cy="310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3"/>
          <p:cNvCxnSpPr/>
          <p:nvPr/>
        </p:nvCxnSpPr>
        <p:spPr>
          <a:xfrm rot="10800000">
            <a:off x="5967940" y="3057825"/>
            <a:ext cx="126600" cy="2688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3"/>
          <p:cNvCxnSpPr/>
          <p:nvPr/>
        </p:nvCxnSpPr>
        <p:spPr>
          <a:xfrm>
            <a:off x="1348808" y="3936225"/>
            <a:ext cx="107100" cy="483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3"/>
          <p:cNvCxnSpPr/>
          <p:nvPr/>
        </p:nvCxnSpPr>
        <p:spPr>
          <a:xfrm>
            <a:off x="1402962" y="3668119"/>
            <a:ext cx="4613100" cy="13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3"/>
          <p:cNvCxnSpPr/>
          <p:nvPr/>
        </p:nvCxnSpPr>
        <p:spPr>
          <a:xfrm flipH="1" rot="10800000">
            <a:off x="1348808" y="3626025"/>
            <a:ext cx="68700" cy="310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3"/>
          <p:cNvCxnSpPr/>
          <p:nvPr/>
        </p:nvCxnSpPr>
        <p:spPr>
          <a:xfrm rot="10800000">
            <a:off x="5975192" y="3667425"/>
            <a:ext cx="126600" cy="2688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3"/>
          <p:cNvCxnSpPr/>
          <p:nvPr/>
        </p:nvCxnSpPr>
        <p:spPr>
          <a:xfrm flipH="1" rot="10800000">
            <a:off x="5997040" y="3936225"/>
            <a:ext cx="97500" cy="76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3"/>
          <p:cNvCxnSpPr>
            <a:stCxn id="204" idx="0"/>
          </p:cNvCxnSpPr>
          <p:nvPr/>
        </p:nvCxnSpPr>
        <p:spPr>
          <a:xfrm rot="10800000">
            <a:off x="5419337" y="1246925"/>
            <a:ext cx="77100" cy="7653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3"/>
          <p:cNvCxnSpPr>
            <a:stCxn id="192" idx="3"/>
          </p:cNvCxnSpPr>
          <p:nvPr/>
        </p:nvCxnSpPr>
        <p:spPr>
          <a:xfrm flipH="1" rot="10800000">
            <a:off x="3980682" y="1235963"/>
            <a:ext cx="1175400" cy="15324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3"/>
          <p:cNvCxnSpPr/>
          <p:nvPr/>
        </p:nvCxnSpPr>
        <p:spPr>
          <a:xfrm flipH="1" rot="10800000">
            <a:off x="3999437" y="1231821"/>
            <a:ext cx="1295700" cy="20451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3"/>
          <p:cNvCxnSpPr/>
          <p:nvPr/>
        </p:nvCxnSpPr>
        <p:spPr>
          <a:xfrm flipH="1">
            <a:off x="2206325" y="4072500"/>
            <a:ext cx="1985700" cy="6204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3"/>
          <p:cNvCxnSpPr/>
          <p:nvPr/>
        </p:nvCxnSpPr>
        <p:spPr>
          <a:xfrm flipH="1">
            <a:off x="2040750" y="3410625"/>
            <a:ext cx="524100" cy="10617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3"/>
          <p:cNvCxnSpPr/>
          <p:nvPr/>
        </p:nvCxnSpPr>
        <p:spPr>
          <a:xfrm flipH="1">
            <a:off x="2151125" y="4017350"/>
            <a:ext cx="455100" cy="5517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3"/>
          <p:cNvCxnSpPr>
            <a:stCxn id="200" idx="0"/>
          </p:cNvCxnSpPr>
          <p:nvPr/>
        </p:nvCxnSpPr>
        <p:spPr>
          <a:xfrm rot="10800000">
            <a:off x="2000482" y="1234020"/>
            <a:ext cx="1538700" cy="7782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3"/>
          <p:cNvCxnSpPr>
            <a:stCxn id="206" idx="0"/>
          </p:cNvCxnSpPr>
          <p:nvPr/>
        </p:nvCxnSpPr>
        <p:spPr>
          <a:xfrm rot="10800000">
            <a:off x="1792776" y="1287120"/>
            <a:ext cx="134400" cy="7251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6" name="Google Shape;27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6251" y="1891825"/>
            <a:ext cx="884074" cy="7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1600" y="2765325"/>
            <a:ext cx="884075" cy="48276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"/>
          <p:cNvSpPr/>
          <p:nvPr/>
        </p:nvSpPr>
        <p:spPr>
          <a:xfrm>
            <a:off x="7300375" y="1779821"/>
            <a:ext cx="968400" cy="1874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3"/>
          <p:cNvCxnSpPr>
            <a:stCxn id="278" idx="1"/>
            <a:endCxn id="202" idx="3"/>
          </p:cNvCxnSpPr>
          <p:nvPr/>
        </p:nvCxnSpPr>
        <p:spPr>
          <a:xfrm rot="10800000">
            <a:off x="6129475" y="2107421"/>
            <a:ext cx="1170900" cy="6096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3"/>
          <p:cNvCxnSpPr>
            <a:endCxn id="224" idx="3"/>
          </p:cNvCxnSpPr>
          <p:nvPr/>
        </p:nvCxnSpPr>
        <p:spPr>
          <a:xfrm flipH="1">
            <a:off x="6101792" y="3148746"/>
            <a:ext cx="1068900" cy="1503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3"/>
          <p:cNvCxnSpPr/>
          <p:nvPr/>
        </p:nvCxnSpPr>
        <p:spPr>
          <a:xfrm rot="10800000">
            <a:off x="6059925" y="2527725"/>
            <a:ext cx="1152000" cy="4692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812dc062f_0_60"/>
          <p:cNvSpPr txBox="1"/>
          <p:nvPr>
            <p:ph idx="4294967295" type="title"/>
          </p:nvPr>
        </p:nvSpPr>
        <p:spPr>
          <a:xfrm>
            <a:off x="159100" y="-359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latin typeface="Oswald"/>
                <a:ea typeface="Oswald"/>
                <a:cs typeface="Oswald"/>
                <a:sym typeface="Oswald"/>
              </a:rPr>
              <a:t>GPU/SSD Data Exchange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87" name="Google Shape;287;g39812dc062f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311" y="1054811"/>
            <a:ext cx="702655" cy="5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39812dc062f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718" y="1071338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9812dc062f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397" y="1071342"/>
            <a:ext cx="241125" cy="418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g39812dc062f_0_60"/>
          <p:cNvCxnSpPr/>
          <p:nvPr/>
        </p:nvCxnSpPr>
        <p:spPr>
          <a:xfrm>
            <a:off x="1480089" y="1282121"/>
            <a:ext cx="526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91" name="Google Shape;291;g39812dc062f_0_60"/>
          <p:cNvSpPr txBox="1"/>
          <p:nvPr/>
        </p:nvSpPr>
        <p:spPr>
          <a:xfrm>
            <a:off x="1291698" y="656784"/>
            <a:ext cx="874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PCIE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g39812dc062f_0_60"/>
          <p:cNvPicPr preferRelativeResize="0"/>
          <p:nvPr/>
        </p:nvPicPr>
        <p:blipFill rotWithShape="1">
          <a:blip r:embed="rId5">
            <a:alphaModFix/>
          </a:blip>
          <a:srcRect b="35691" l="16939" r="18134" t="31298"/>
          <a:stretch/>
        </p:blipFill>
        <p:spPr>
          <a:xfrm>
            <a:off x="2167279" y="1203362"/>
            <a:ext cx="808248" cy="205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g39812dc062f_0_60"/>
          <p:cNvCxnSpPr/>
          <p:nvPr/>
        </p:nvCxnSpPr>
        <p:spPr>
          <a:xfrm>
            <a:off x="3041852" y="1280551"/>
            <a:ext cx="526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94" name="Google Shape;294;g39812dc062f_0_60"/>
          <p:cNvSpPr txBox="1"/>
          <p:nvPr/>
        </p:nvSpPr>
        <p:spPr>
          <a:xfrm>
            <a:off x="2853461" y="655214"/>
            <a:ext cx="874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PCIE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5" name="Google Shape;295;g39812dc062f_0_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9885" y="962401"/>
            <a:ext cx="642372" cy="56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9812dc062f_0_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5910" y="975314"/>
            <a:ext cx="642372" cy="562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g39812dc062f_0_60"/>
          <p:cNvCxnSpPr/>
          <p:nvPr/>
        </p:nvCxnSpPr>
        <p:spPr>
          <a:xfrm>
            <a:off x="5635281" y="1363068"/>
            <a:ext cx="526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98" name="Google Shape;298;g39812dc062f_0_60"/>
          <p:cNvSpPr txBox="1"/>
          <p:nvPr/>
        </p:nvSpPr>
        <p:spPr>
          <a:xfrm>
            <a:off x="5446890" y="737731"/>
            <a:ext cx="874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PCIE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9" name="Google Shape;299;g39812dc062f_0_60"/>
          <p:cNvPicPr preferRelativeResize="0"/>
          <p:nvPr/>
        </p:nvPicPr>
        <p:blipFill rotWithShape="1">
          <a:blip r:embed="rId5">
            <a:alphaModFix/>
          </a:blip>
          <a:srcRect b="35691" l="16939" r="18134" t="31298"/>
          <a:stretch/>
        </p:blipFill>
        <p:spPr>
          <a:xfrm>
            <a:off x="6322471" y="1284309"/>
            <a:ext cx="808248" cy="205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g39812dc062f_0_60"/>
          <p:cNvCxnSpPr/>
          <p:nvPr/>
        </p:nvCxnSpPr>
        <p:spPr>
          <a:xfrm>
            <a:off x="7197044" y="1361498"/>
            <a:ext cx="526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301" name="Google Shape;301;g39812dc062f_0_60"/>
          <p:cNvSpPr txBox="1"/>
          <p:nvPr/>
        </p:nvSpPr>
        <p:spPr>
          <a:xfrm>
            <a:off x="7008653" y="736161"/>
            <a:ext cx="874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PCIE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2" name="Google Shape;302;g39812dc062f_0_60"/>
          <p:cNvCxnSpPr/>
          <p:nvPr/>
        </p:nvCxnSpPr>
        <p:spPr>
          <a:xfrm>
            <a:off x="4352257" y="1306608"/>
            <a:ext cx="526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303" name="Google Shape;303;g39812dc062f_0_60"/>
          <p:cNvSpPr txBox="1"/>
          <p:nvPr/>
        </p:nvSpPr>
        <p:spPr>
          <a:xfrm>
            <a:off x="4212770" y="725375"/>
            <a:ext cx="14169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39812dc062f_0_60"/>
          <p:cNvSpPr txBox="1"/>
          <p:nvPr/>
        </p:nvSpPr>
        <p:spPr>
          <a:xfrm>
            <a:off x="467702" y="1390375"/>
            <a:ext cx="874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SSD 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39812dc062f_0_60"/>
          <p:cNvSpPr txBox="1"/>
          <p:nvPr/>
        </p:nvSpPr>
        <p:spPr>
          <a:xfrm>
            <a:off x="3727945" y="1978713"/>
            <a:ext cx="2298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lang="en" sz="1600">
                <a:solidFill>
                  <a:srgbClr val="EF8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milli second latency</a:t>
            </a:r>
            <a:endParaRPr/>
          </a:p>
        </p:txBody>
      </p:sp>
      <p:sp>
        <p:nvSpPr>
          <p:cNvPr id="306" name="Google Shape;306;g39812dc062f_0_60"/>
          <p:cNvSpPr txBox="1"/>
          <p:nvPr/>
        </p:nvSpPr>
        <p:spPr>
          <a:xfrm>
            <a:off x="3520982" y="1387036"/>
            <a:ext cx="874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lang="en" sz="16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NIC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39812dc062f_0_60"/>
          <p:cNvSpPr txBox="1"/>
          <p:nvPr/>
        </p:nvSpPr>
        <p:spPr>
          <a:xfrm>
            <a:off x="4788273" y="1385166"/>
            <a:ext cx="874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lang="en" sz="16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NIC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g39812dc062f_0_60"/>
          <p:cNvSpPr txBox="1"/>
          <p:nvPr/>
        </p:nvSpPr>
        <p:spPr>
          <a:xfrm>
            <a:off x="6055564" y="1456897"/>
            <a:ext cx="1278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lang="en" sz="16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g39812dc062f_0_60"/>
          <p:cNvSpPr txBox="1"/>
          <p:nvPr/>
        </p:nvSpPr>
        <p:spPr>
          <a:xfrm>
            <a:off x="7704335" y="1439529"/>
            <a:ext cx="874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 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0" name="Google Shape;310;g39812dc062f_0_60"/>
          <p:cNvCxnSpPr>
            <a:stCxn id="304" idx="2"/>
          </p:cNvCxnSpPr>
          <p:nvPr/>
        </p:nvCxnSpPr>
        <p:spPr>
          <a:xfrm flipH="1">
            <a:off x="898652" y="1971175"/>
            <a:ext cx="6300" cy="539700"/>
          </a:xfrm>
          <a:prstGeom prst="straightConnector1">
            <a:avLst/>
          </a:prstGeom>
          <a:noFill/>
          <a:ln cap="flat" cmpd="sng" w="38100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g39812dc062f_0_60"/>
          <p:cNvCxnSpPr/>
          <p:nvPr/>
        </p:nvCxnSpPr>
        <p:spPr>
          <a:xfrm flipH="1">
            <a:off x="8166828" y="1897611"/>
            <a:ext cx="6300" cy="539700"/>
          </a:xfrm>
          <a:prstGeom prst="straightConnector1">
            <a:avLst/>
          </a:prstGeom>
          <a:noFill/>
          <a:ln cap="flat" cmpd="sng" w="38100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g39812dc062f_0_60"/>
          <p:cNvCxnSpPr/>
          <p:nvPr/>
        </p:nvCxnSpPr>
        <p:spPr>
          <a:xfrm>
            <a:off x="5662879" y="2240913"/>
            <a:ext cx="2452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313" name="Google Shape;313;g39812dc062f_0_60"/>
          <p:cNvCxnSpPr/>
          <p:nvPr/>
        </p:nvCxnSpPr>
        <p:spPr>
          <a:xfrm rot="10800000">
            <a:off x="997494" y="2240913"/>
            <a:ext cx="25713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314" name="Google Shape;314;g39812dc062f_0_60"/>
          <p:cNvSpPr txBox="1"/>
          <p:nvPr/>
        </p:nvSpPr>
        <p:spPr>
          <a:xfrm>
            <a:off x="2050366" y="1561216"/>
            <a:ext cx="1278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lang="en" sz="16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Google Shape;315;g39812dc062f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6566" y="3099108"/>
            <a:ext cx="702655" cy="5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9812dc062f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2774" y="3229702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9812dc062f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2453" y="3229706"/>
            <a:ext cx="241125" cy="418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g39812dc062f_0_60"/>
          <p:cNvCxnSpPr/>
          <p:nvPr/>
        </p:nvCxnSpPr>
        <p:spPr>
          <a:xfrm>
            <a:off x="3929642" y="3453098"/>
            <a:ext cx="2130300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319" name="Google Shape;319;g39812dc062f_0_60"/>
          <p:cNvSpPr txBox="1"/>
          <p:nvPr/>
        </p:nvSpPr>
        <p:spPr>
          <a:xfrm>
            <a:off x="2922758" y="3548739"/>
            <a:ext cx="874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SSD</a:t>
            </a:r>
            <a:r>
              <a:rPr b="1" i="0" lang="en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g39812dc062f_0_60"/>
          <p:cNvSpPr txBox="1"/>
          <p:nvPr/>
        </p:nvSpPr>
        <p:spPr>
          <a:xfrm>
            <a:off x="3797250" y="4182400"/>
            <a:ext cx="22581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lang="en" sz="1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 second latency</a:t>
            </a:r>
            <a:endParaRPr/>
          </a:p>
        </p:txBody>
      </p:sp>
      <p:sp>
        <p:nvSpPr>
          <p:cNvPr id="321" name="Google Shape;321;g39812dc062f_0_60"/>
          <p:cNvSpPr txBox="1"/>
          <p:nvPr/>
        </p:nvSpPr>
        <p:spPr>
          <a:xfrm>
            <a:off x="6162223" y="3593971"/>
            <a:ext cx="8745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</a:t>
            </a:r>
            <a:r>
              <a:rPr b="1" i="0" lang="en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2" name="Google Shape;322;g39812dc062f_0_60"/>
          <p:cNvCxnSpPr/>
          <p:nvPr/>
        </p:nvCxnSpPr>
        <p:spPr>
          <a:xfrm flipH="1">
            <a:off x="3154621" y="4124989"/>
            <a:ext cx="6300" cy="539700"/>
          </a:xfrm>
          <a:prstGeom prst="straightConnector1">
            <a:avLst/>
          </a:prstGeom>
          <a:noFill/>
          <a:ln cap="flat" cmpd="sng" w="38100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g39812dc062f_0_60"/>
          <p:cNvCxnSpPr/>
          <p:nvPr/>
        </p:nvCxnSpPr>
        <p:spPr>
          <a:xfrm flipH="1">
            <a:off x="6625957" y="4124992"/>
            <a:ext cx="6300" cy="539700"/>
          </a:xfrm>
          <a:prstGeom prst="straightConnector1">
            <a:avLst/>
          </a:prstGeom>
          <a:noFill/>
          <a:ln cap="flat" cmpd="sng" w="38100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g39812dc062f_0_60"/>
          <p:cNvCxnSpPr/>
          <p:nvPr/>
        </p:nvCxnSpPr>
        <p:spPr>
          <a:xfrm>
            <a:off x="5972116" y="4472791"/>
            <a:ext cx="5430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325" name="Google Shape;325;g39812dc062f_0_60"/>
          <p:cNvCxnSpPr/>
          <p:nvPr/>
        </p:nvCxnSpPr>
        <p:spPr>
          <a:xfrm rot="10800000">
            <a:off x="3283150" y="4472800"/>
            <a:ext cx="6465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326" name="Google Shape;326;g39812dc062f_0_60"/>
          <p:cNvSpPr txBox="1"/>
          <p:nvPr/>
        </p:nvSpPr>
        <p:spPr>
          <a:xfrm>
            <a:off x="4024932" y="3013246"/>
            <a:ext cx="18777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lang="en" sz="1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KubeFlash</a:t>
            </a:r>
            <a:r>
              <a:rPr b="1" i="0" lang="en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PCIE</a:t>
            </a:r>
            <a:endParaRPr/>
          </a:p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g39812dc062f_0_60"/>
          <p:cNvSpPr/>
          <p:nvPr/>
        </p:nvSpPr>
        <p:spPr>
          <a:xfrm flipH="1" rot="10800000">
            <a:off x="1704370" y="3404641"/>
            <a:ext cx="813900" cy="868800"/>
          </a:xfrm>
          <a:prstGeom prst="bentArrow">
            <a:avLst>
              <a:gd fmla="val 25000" name="adj1"/>
              <a:gd fmla="val 25000" name="adj2"/>
              <a:gd fmla="val 25000" name="adj3"/>
              <a:gd fmla="val 47559" name="adj4"/>
            </a:avLst>
          </a:prstGeom>
          <a:solidFill>
            <a:schemeClr val="accent1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9812dc062f_0_60"/>
          <p:cNvSpPr txBox="1"/>
          <p:nvPr/>
        </p:nvSpPr>
        <p:spPr>
          <a:xfrm>
            <a:off x="565014" y="2939339"/>
            <a:ext cx="2298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lang="en" sz="1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KubeFlash Enable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812dc062f_0_219"/>
          <p:cNvSpPr txBox="1"/>
          <p:nvPr>
            <p:ph type="ctrTitle"/>
          </p:nvPr>
        </p:nvSpPr>
        <p:spPr>
          <a:xfrm>
            <a:off x="152063" y="762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KubeFlash: 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Tightly 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coupled GPU/SSD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 KV Cache for LLM 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34" name="Google Shape;334;g39812dc062f_0_219"/>
          <p:cNvSpPr/>
          <p:nvPr/>
        </p:nvSpPr>
        <p:spPr>
          <a:xfrm>
            <a:off x="547325" y="1179100"/>
            <a:ext cx="1752600" cy="158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9812dc062f_0_219"/>
          <p:cNvSpPr/>
          <p:nvPr/>
        </p:nvSpPr>
        <p:spPr>
          <a:xfrm>
            <a:off x="651925" y="1771900"/>
            <a:ext cx="432600" cy="1710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GPU</a:t>
            </a:r>
            <a:endParaRPr b="1" sz="700"/>
          </a:p>
        </p:txBody>
      </p:sp>
      <p:pic>
        <p:nvPicPr>
          <p:cNvPr id="336" name="Google Shape;336;g39812dc062f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575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9812dc062f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100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9812dc062f_0_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138" y="1250220"/>
            <a:ext cx="392875" cy="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9812dc062f_0_219"/>
          <p:cNvSpPr/>
          <p:nvPr/>
        </p:nvSpPr>
        <p:spPr>
          <a:xfrm>
            <a:off x="1813090" y="1256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40" name="Google Shape;340;g39812dc062f_0_219"/>
          <p:cNvSpPr/>
          <p:nvPr/>
        </p:nvSpPr>
        <p:spPr>
          <a:xfrm>
            <a:off x="15373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41" name="Google Shape;341;g39812dc062f_0_219"/>
          <p:cNvSpPr/>
          <p:nvPr/>
        </p:nvSpPr>
        <p:spPr>
          <a:xfrm>
            <a:off x="18271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42" name="Google Shape;342;g39812dc062f_0_219"/>
          <p:cNvSpPr/>
          <p:nvPr/>
        </p:nvSpPr>
        <p:spPr>
          <a:xfrm>
            <a:off x="15373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43" name="Google Shape;343;g39812dc062f_0_219"/>
          <p:cNvSpPr/>
          <p:nvPr/>
        </p:nvSpPr>
        <p:spPr>
          <a:xfrm>
            <a:off x="18271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44" name="Google Shape;344;g39812dc062f_0_219"/>
          <p:cNvSpPr/>
          <p:nvPr/>
        </p:nvSpPr>
        <p:spPr>
          <a:xfrm>
            <a:off x="1251206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45" name="Google Shape;345;g39812dc062f_0_219"/>
          <p:cNvSpPr/>
          <p:nvPr/>
        </p:nvSpPr>
        <p:spPr>
          <a:xfrm>
            <a:off x="1185325" y="1771900"/>
            <a:ext cx="999900" cy="17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Paged KV Cache</a:t>
            </a:r>
            <a:endParaRPr b="1" sz="700"/>
          </a:p>
        </p:txBody>
      </p:sp>
      <p:pic>
        <p:nvPicPr>
          <p:cNvPr id="346" name="Google Shape;346;g39812dc062f_0_219"/>
          <p:cNvPicPr preferRelativeResize="0"/>
          <p:nvPr/>
        </p:nvPicPr>
        <p:blipFill rotWithShape="1">
          <a:blip r:embed="rId5">
            <a:alphaModFix/>
          </a:blip>
          <a:srcRect b="35690" l="16939" r="18134" t="31300"/>
          <a:stretch/>
        </p:blipFill>
        <p:spPr>
          <a:xfrm>
            <a:off x="706925" y="2207625"/>
            <a:ext cx="808248" cy="20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9812dc062f_0_219"/>
          <p:cNvPicPr preferRelativeResize="0"/>
          <p:nvPr/>
        </p:nvPicPr>
        <p:blipFill rotWithShape="1">
          <a:blip r:embed="rId5">
            <a:alphaModFix/>
          </a:blip>
          <a:srcRect b="35690" l="16939" r="18134" t="31300"/>
          <a:stretch/>
        </p:blipFill>
        <p:spPr>
          <a:xfrm>
            <a:off x="714643" y="2384950"/>
            <a:ext cx="808248" cy="20545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9812dc062f_0_219"/>
          <p:cNvSpPr/>
          <p:nvPr/>
        </p:nvSpPr>
        <p:spPr>
          <a:xfrm>
            <a:off x="2528525" y="1179100"/>
            <a:ext cx="1752600" cy="158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9812dc062f_0_219"/>
          <p:cNvSpPr/>
          <p:nvPr/>
        </p:nvSpPr>
        <p:spPr>
          <a:xfrm>
            <a:off x="2633125" y="1771900"/>
            <a:ext cx="432600" cy="1710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GPU</a:t>
            </a:r>
            <a:endParaRPr b="1" sz="700"/>
          </a:p>
        </p:txBody>
      </p:sp>
      <p:pic>
        <p:nvPicPr>
          <p:cNvPr id="350" name="Google Shape;350;g39812dc062f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775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9812dc062f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0300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g39812dc062f_0_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1338" y="1250220"/>
            <a:ext cx="392875" cy="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9812dc062f_0_219"/>
          <p:cNvSpPr/>
          <p:nvPr/>
        </p:nvSpPr>
        <p:spPr>
          <a:xfrm>
            <a:off x="3794290" y="1256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54" name="Google Shape;354;g39812dc062f_0_219"/>
          <p:cNvSpPr/>
          <p:nvPr/>
        </p:nvSpPr>
        <p:spPr>
          <a:xfrm>
            <a:off x="35185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55" name="Google Shape;355;g39812dc062f_0_219"/>
          <p:cNvSpPr/>
          <p:nvPr/>
        </p:nvSpPr>
        <p:spPr>
          <a:xfrm>
            <a:off x="38083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56" name="Google Shape;356;g39812dc062f_0_219"/>
          <p:cNvSpPr/>
          <p:nvPr/>
        </p:nvSpPr>
        <p:spPr>
          <a:xfrm>
            <a:off x="35185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57" name="Google Shape;357;g39812dc062f_0_219"/>
          <p:cNvSpPr/>
          <p:nvPr/>
        </p:nvSpPr>
        <p:spPr>
          <a:xfrm>
            <a:off x="38083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58" name="Google Shape;358;g39812dc062f_0_219"/>
          <p:cNvSpPr/>
          <p:nvPr/>
        </p:nvSpPr>
        <p:spPr>
          <a:xfrm>
            <a:off x="3232406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59" name="Google Shape;359;g39812dc062f_0_219"/>
          <p:cNvSpPr/>
          <p:nvPr/>
        </p:nvSpPr>
        <p:spPr>
          <a:xfrm>
            <a:off x="3166525" y="1771900"/>
            <a:ext cx="999900" cy="17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Paged KV Cache</a:t>
            </a:r>
            <a:endParaRPr b="1" sz="700"/>
          </a:p>
        </p:txBody>
      </p:sp>
      <p:pic>
        <p:nvPicPr>
          <p:cNvPr id="360" name="Google Shape;360;g39812dc062f_0_219"/>
          <p:cNvPicPr preferRelativeResize="0"/>
          <p:nvPr/>
        </p:nvPicPr>
        <p:blipFill rotWithShape="1">
          <a:blip r:embed="rId5">
            <a:alphaModFix/>
          </a:blip>
          <a:srcRect b="35690" l="16939" r="18134" t="31300"/>
          <a:stretch/>
        </p:blipFill>
        <p:spPr>
          <a:xfrm>
            <a:off x="2688125" y="2207625"/>
            <a:ext cx="808248" cy="20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9812dc062f_0_219"/>
          <p:cNvPicPr preferRelativeResize="0"/>
          <p:nvPr/>
        </p:nvPicPr>
        <p:blipFill rotWithShape="1">
          <a:blip r:embed="rId5">
            <a:alphaModFix/>
          </a:blip>
          <a:srcRect b="35690" l="16939" r="18134" t="31300"/>
          <a:stretch/>
        </p:blipFill>
        <p:spPr>
          <a:xfrm>
            <a:off x="2695843" y="2384950"/>
            <a:ext cx="808248" cy="205454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9812dc062f_0_219"/>
          <p:cNvSpPr/>
          <p:nvPr/>
        </p:nvSpPr>
        <p:spPr>
          <a:xfrm>
            <a:off x="4433525" y="1179100"/>
            <a:ext cx="1752600" cy="158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9812dc062f_0_219"/>
          <p:cNvSpPr/>
          <p:nvPr/>
        </p:nvSpPr>
        <p:spPr>
          <a:xfrm>
            <a:off x="4538125" y="1771900"/>
            <a:ext cx="432600" cy="1710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GPU</a:t>
            </a:r>
            <a:endParaRPr b="1" sz="700"/>
          </a:p>
        </p:txBody>
      </p:sp>
      <p:pic>
        <p:nvPicPr>
          <p:cNvPr id="364" name="Google Shape;364;g39812dc062f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775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39812dc062f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5300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39812dc062f_0_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6338" y="1250220"/>
            <a:ext cx="392875" cy="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9812dc062f_0_219"/>
          <p:cNvSpPr/>
          <p:nvPr/>
        </p:nvSpPr>
        <p:spPr>
          <a:xfrm>
            <a:off x="5699290" y="1256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68" name="Google Shape;368;g39812dc062f_0_219"/>
          <p:cNvSpPr/>
          <p:nvPr/>
        </p:nvSpPr>
        <p:spPr>
          <a:xfrm>
            <a:off x="54235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69" name="Google Shape;369;g39812dc062f_0_219"/>
          <p:cNvSpPr/>
          <p:nvPr/>
        </p:nvSpPr>
        <p:spPr>
          <a:xfrm>
            <a:off x="57133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70" name="Google Shape;370;g39812dc062f_0_219"/>
          <p:cNvSpPr/>
          <p:nvPr/>
        </p:nvSpPr>
        <p:spPr>
          <a:xfrm>
            <a:off x="54235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71" name="Google Shape;371;g39812dc062f_0_219"/>
          <p:cNvSpPr/>
          <p:nvPr/>
        </p:nvSpPr>
        <p:spPr>
          <a:xfrm>
            <a:off x="57133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72" name="Google Shape;372;g39812dc062f_0_219"/>
          <p:cNvSpPr/>
          <p:nvPr/>
        </p:nvSpPr>
        <p:spPr>
          <a:xfrm>
            <a:off x="5137406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73" name="Google Shape;373;g39812dc062f_0_219"/>
          <p:cNvSpPr/>
          <p:nvPr/>
        </p:nvSpPr>
        <p:spPr>
          <a:xfrm>
            <a:off x="5071525" y="1771900"/>
            <a:ext cx="999900" cy="17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Paged KV Cache</a:t>
            </a:r>
            <a:endParaRPr b="1" sz="700"/>
          </a:p>
        </p:txBody>
      </p:sp>
      <p:pic>
        <p:nvPicPr>
          <p:cNvPr id="374" name="Google Shape;374;g39812dc062f_0_219"/>
          <p:cNvPicPr preferRelativeResize="0"/>
          <p:nvPr/>
        </p:nvPicPr>
        <p:blipFill rotWithShape="1">
          <a:blip r:embed="rId5">
            <a:alphaModFix/>
          </a:blip>
          <a:srcRect b="35690" l="16939" r="18134" t="31300"/>
          <a:stretch/>
        </p:blipFill>
        <p:spPr>
          <a:xfrm>
            <a:off x="4593125" y="2207625"/>
            <a:ext cx="808248" cy="20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9812dc062f_0_219"/>
          <p:cNvPicPr preferRelativeResize="0"/>
          <p:nvPr/>
        </p:nvPicPr>
        <p:blipFill rotWithShape="1">
          <a:blip r:embed="rId5">
            <a:alphaModFix/>
          </a:blip>
          <a:srcRect b="35690" l="16939" r="18134" t="31300"/>
          <a:stretch/>
        </p:blipFill>
        <p:spPr>
          <a:xfrm>
            <a:off x="4600843" y="2384950"/>
            <a:ext cx="808248" cy="20545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9812dc062f_0_219"/>
          <p:cNvSpPr/>
          <p:nvPr/>
        </p:nvSpPr>
        <p:spPr>
          <a:xfrm>
            <a:off x="6414725" y="1179100"/>
            <a:ext cx="1752600" cy="158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9812dc062f_0_219"/>
          <p:cNvSpPr/>
          <p:nvPr/>
        </p:nvSpPr>
        <p:spPr>
          <a:xfrm>
            <a:off x="6519325" y="1771900"/>
            <a:ext cx="432600" cy="1710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GPU</a:t>
            </a:r>
            <a:endParaRPr b="1" sz="700"/>
          </a:p>
        </p:txBody>
      </p:sp>
      <p:pic>
        <p:nvPicPr>
          <p:cNvPr id="378" name="Google Shape;378;g39812dc062f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8975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9812dc062f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6500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9812dc062f_0_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7538" y="1250220"/>
            <a:ext cx="392875" cy="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9812dc062f_0_219"/>
          <p:cNvSpPr/>
          <p:nvPr/>
        </p:nvSpPr>
        <p:spPr>
          <a:xfrm>
            <a:off x="7680490" y="1256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82" name="Google Shape;382;g39812dc062f_0_219"/>
          <p:cNvSpPr/>
          <p:nvPr/>
        </p:nvSpPr>
        <p:spPr>
          <a:xfrm>
            <a:off x="74047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83" name="Google Shape;383;g39812dc062f_0_219"/>
          <p:cNvSpPr/>
          <p:nvPr/>
        </p:nvSpPr>
        <p:spPr>
          <a:xfrm>
            <a:off x="76945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84" name="Google Shape;384;g39812dc062f_0_219"/>
          <p:cNvSpPr/>
          <p:nvPr/>
        </p:nvSpPr>
        <p:spPr>
          <a:xfrm>
            <a:off x="74047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85" name="Google Shape;385;g39812dc062f_0_219"/>
          <p:cNvSpPr/>
          <p:nvPr/>
        </p:nvSpPr>
        <p:spPr>
          <a:xfrm>
            <a:off x="76945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86" name="Google Shape;386;g39812dc062f_0_219"/>
          <p:cNvSpPr/>
          <p:nvPr/>
        </p:nvSpPr>
        <p:spPr>
          <a:xfrm>
            <a:off x="7118606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387" name="Google Shape;387;g39812dc062f_0_219"/>
          <p:cNvSpPr/>
          <p:nvPr/>
        </p:nvSpPr>
        <p:spPr>
          <a:xfrm>
            <a:off x="7052725" y="1771900"/>
            <a:ext cx="999900" cy="17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Paged KV Cache</a:t>
            </a:r>
            <a:endParaRPr b="1" sz="700"/>
          </a:p>
        </p:txBody>
      </p:sp>
      <p:pic>
        <p:nvPicPr>
          <p:cNvPr id="388" name="Google Shape;388;g39812dc062f_0_219"/>
          <p:cNvPicPr preferRelativeResize="0"/>
          <p:nvPr/>
        </p:nvPicPr>
        <p:blipFill rotWithShape="1">
          <a:blip r:embed="rId5">
            <a:alphaModFix/>
          </a:blip>
          <a:srcRect b="35690" l="16939" r="18134" t="31300"/>
          <a:stretch/>
        </p:blipFill>
        <p:spPr>
          <a:xfrm>
            <a:off x="6574325" y="2207625"/>
            <a:ext cx="808248" cy="20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9812dc062f_0_219"/>
          <p:cNvPicPr preferRelativeResize="0"/>
          <p:nvPr/>
        </p:nvPicPr>
        <p:blipFill rotWithShape="1">
          <a:blip r:embed="rId5">
            <a:alphaModFix/>
          </a:blip>
          <a:srcRect b="35690" l="16939" r="18134" t="31300"/>
          <a:stretch/>
        </p:blipFill>
        <p:spPr>
          <a:xfrm>
            <a:off x="6582043" y="2384950"/>
            <a:ext cx="808248" cy="20545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9812dc062f_0_219"/>
          <p:cNvSpPr/>
          <p:nvPr/>
        </p:nvSpPr>
        <p:spPr>
          <a:xfrm>
            <a:off x="3156625" y="2800350"/>
            <a:ext cx="2829300" cy="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Extended PCIE Fabric </a:t>
            </a:r>
            <a:endParaRPr b="1" sz="900"/>
          </a:p>
        </p:txBody>
      </p:sp>
      <p:cxnSp>
        <p:nvCxnSpPr>
          <p:cNvPr id="391" name="Google Shape;391;g39812dc062f_0_219"/>
          <p:cNvCxnSpPr/>
          <p:nvPr/>
        </p:nvCxnSpPr>
        <p:spPr>
          <a:xfrm>
            <a:off x="1894994" y="3058519"/>
            <a:ext cx="4489500" cy="81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g39812dc062f_0_219"/>
          <p:cNvCxnSpPr/>
          <p:nvPr/>
        </p:nvCxnSpPr>
        <p:spPr>
          <a:xfrm>
            <a:off x="1523524" y="2713475"/>
            <a:ext cx="378000" cy="3330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g39812dc062f_0_219"/>
          <p:cNvCxnSpPr/>
          <p:nvPr/>
        </p:nvCxnSpPr>
        <p:spPr>
          <a:xfrm flipH="1">
            <a:off x="6364324" y="2713475"/>
            <a:ext cx="188400" cy="3465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g39812dc062f_0_219"/>
          <p:cNvCxnSpPr/>
          <p:nvPr/>
        </p:nvCxnSpPr>
        <p:spPr>
          <a:xfrm>
            <a:off x="2309294" y="24605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g39812dc062f_0_219"/>
          <p:cNvCxnSpPr/>
          <p:nvPr/>
        </p:nvCxnSpPr>
        <p:spPr>
          <a:xfrm>
            <a:off x="4214294" y="24605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g39812dc062f_0_219"/>
          <p:cNvCxnSpPr/>
          <p:nvPr/>
        </p:nvCxnSpPr>
        <p:spPr>
          <a:xfrm>
            <a:off x="6195494" y="24605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g39812dc062f_0_219"/>
          <p:cNvSpPr txBox="1"/>
          <p:nvPr>
            <p:ph idx="1" type="subTitle"/>
          </p:nvPr>
        </p:nvSpPr>
        <p:spPr>
          <a:xfrm>
            <a:off x="-5875" y="3611125"/>
            <a:ext cx="6821400" cy="11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Extended PCIE fabric provide pooling for memory and SSD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0A6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F60A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movement all in hardware, minimal driver/FW involvement</a:t>
            </a:r>
            <a:endParaRPr b="1" sz="1200">
              <a:solidFill>
                <a:srgbClr val="F60A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Big improvement in bandwidth and latency compared with traditional RDMA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e89de9e37_2_150"/>
          <p:cNvSpPr/>
          <p:nvPr/>
        </p:nvSpPr>
        <p:spPr>
          <a:xfrm>
            <a:off x="863925" y="1500550"/>
            <a:ext cx="3967500" cy="315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E91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PCIE Switch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698" y="207384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Google Shape;404;g3be89de9e37_2_150"/>
          <p:cNvCxnSpPr/>
          <p:nvPr/>
        </p:nvCxnSpPr>
        <p:spPr>
          <a:xfrm flipH="1" rot="10800000">
            <a:off x="995373" y="181614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05" name="Google Shape;405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7379" y="2070177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6" name="Google Shape;406;g3be89de9e37_2_150"/>
          <p:cNvCxnSpPr/>
          <p:nvPr/>
        </p:nvCxnSpPr>
        <p:spPr>
          <a:xfrm flipH="1" rot="10800000">
            <a:off x="1487054" y="181247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07" name="Google Shape;407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081" y="207384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8" name="Google Shape;408;g3be89de9e37_2_150"/>
          <p:cNvCxnSpPr/>
          <p:nvPr/>
        </p:nvCxnSpPr>
        <p:spPr>
          <a:xfrm flipH="1" rot="10800000">
            <a:off x="2000756" y="181614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09" name="Google Shape;409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2762" y="2070177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" name="Google Shape;410;g3be89de9e37_2_150"/>
          <p:cNvCxnSpPr/>
          <p:nvPr/>
        </p:nvCxnSpPr>
        <p:spPr>
          <a:xfrm flipH="1" rot="10800000">
            <a:off x="2492437" y="181247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1" name="Google Shape;411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9854" y="20775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g3be89de9e37_2_150"/>
          <p:cNvCxnSpPr/>
          <p:nvPr/>
        </p:nvCxnSpPr>
        <p:spPr>
          <a:xfrm flipH="1" rot="10800000">
            <a:off x="2959529" y="18198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3" name="Google Shape;413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1535" y="2073852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4" name="Google Shape;414;g3be89de9e37_2_150"/>
          <p:cNvCxnSpPr/>
          <p:nvPr/>
        </p:nvCxnSpPr>
        <p:spPr>
          <a:xfrm flipH="1" rot="10800000">
            <a:off x="3451210" y="18161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5" name="Google Shape;415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5237" y="20775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" name="Google Shape;416;g3be89de9e37_2_150"/>
          <p:cNvCxnSpPr/>
          <p:nvPr/>
        </p:nvCxnSpPr>
        <p:spPr>
          <a:xfrm flipH="1" rot="10800000">
            <a:off x="3964912" y="18198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7" name="Google Shape;417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6918" y="2073852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8" name="Google Shape;418;g3be89de9e37_2_150"/>
          <p:cNvCxnSpPr/>
          <p:nvPr/>
        </p:nvCxnSpPr>
        <p:spPr>
          <a:xfrm flipH="1" rot="10800000">
            <a:off x="4456593" y="18161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g3be89de9e37_2_150"/>
          <p:cNvSpPr/>
          <p:nvPr/>
        </p:nvSpPr>
        <p:spPr>
          <a:xfrm>
            <a:off x="381275" y="1129250"/>
            <a:ext cx="4899300" cy="172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be89de9e37_2_150"/>
          <p:cNvSpPr/>
          <p:nvPr/>
        </p:nvSpPr>
        <p:spPr>
          <a:xfrm>
            <a:off x="948475" y="3548950"/>
            <a:ext cx="3967500" cy="359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E91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PCIE Switch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248" y="41664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g3be89de9e37_2_150"/>
          <p:cNvCxnSpPr/>
          <p:nvPr/>
        </p:nvCxnSpPr>
        <p:spPr>
          <a:xfrm flipH="1" rot="10800000">
            <a:off x="1079923" y="39087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g3be89de9e37_2_150"/>
          <p:cNvCxnSpPr/>
          <p:nvPr/>
        </p:nvCxnSpPr>
        <p:spPr>
          <a:xfrm flipH="1" rot="10800000">
            <a:off x="1571604" y="39050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4" name="Google Shape;424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631" y="41664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" name="Google Shape;425;g3be89de9e37_2_150"/>
          <p:cNvCxnSpPr/>
          <p:nvPr/>
        </p:nvCxnSpPr>
        <p:spPr>
          <a:xfrm flipH="1" rot="10800000">
            <a:off x="2085306" y="39087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g3be89de9e37_2_150"/>
          <p:cNvCxnSpPr/>
          <p:nvPr/>
        </p:nvCxnSpPr>
        <p:spPr>
          <a:xfrm flipH="1" rot="10800000">
            <a:off x="2576987" y="39050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7" name="Google Shape;427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4404" y="41700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8" name="Google Shape;428;g3be89de9e37_2_150"/>
          <p:cNvCxnSpPr/>
          <p:nvPr/>
        </p:nvCxnSpPr>
        <p:spPr>
          <a:xfrm flipH="1" rot="10800000">
            <a:off x="3044079" y="39123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g3be89de9e37_2_150"/>
          <p:cNvCxnSpPr/>
          <p:nvPr/>
        </p:nvCxnSpPr>
        <p:spPr>
          <a:xfrm flipH="1" rot="10800000">
            <a:off x="3535760" y="390872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0" name="Google Shape;430;g3be89de9e37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87" y="41700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g3be89de9e37_2_150"/>
          <p:cNvCxnSpPr/>
          <p:nvPr/>
        </p:nvCxnSpPr>
        <p:spPr>
          <a:xfrm flipH="1" rot="10800000">
            <a:off x="4049462" y="39123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g3be89de9e37_2_150"/>
          <p:cNvCxnSpPr/>
          <p:nvPr/>
        </p:nvCxnSpPr>
        <p:spPr>
          <a:xfrm flipH="1" rot="10800000">
            <a:off x="4541143" y="390872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g3be89de9e37_2_150"/>
          <p:cNvSpPr/>
          <p:nvPr/>
        </p:nvSpPr>
        <p:spPr>
          <a:xfrm>
            <a:off x="381272" y="3151278"/>
            <a:ext cx="4899300" cy="172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4" name="Google Shape;434;g3be89de9e37_2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6550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g3be89de9e37_2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8625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3be89de9e37_2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0700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3be89de9e37_2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6075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be89de9e37_2_150"/>
          <p:cNvSpPr/>
          <p:nvPr/>
        </p:nvSpPr>
        <p:spPr>
          <a:xfrm flipH="1">
            <a:off x="5315819" y="2342371"/>
            <a:ext cx="652722" cy="1286823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91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be89de9e37_2_150"/>
          <p:cNvSpPr txBox="1"/>
          <p:nvPr/>
        </p:nvSpPr>
        <p:spPr>
          <a:xfrm>
            <a:off x="6003806" y="1040734"/>
            <a:ext cx="2985093" cy="33906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Each GPU paired with SSD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GPUs have dedicated computing scratch pad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SSD hold all model parameters, gradients, optimizer states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GPU exchange data through neighboring SSD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0" name="Google Shape;440;g3be89de9e37_2_150"/>
          <p:cNvSpPr/>
          <p:nvPr/>
        </p:nvSpPr>
        <p:spPr>
          <a:xfrm flipH="1">
            <a:off x="1146775" y="3812796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be89de9e37_2_150"/>
          <p:cNvSpPr/>
          <p:nvPr/>
        </p:nvSpPr>
        <p:spPr>
          <a:xfrm flipH="1">
            <a:off x="2127021" y="3809127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be89de9e37_2_150"/>
          <p:cNvSpPr/>
          <p:nvPr/>
        </p:nvSpPr>
        <p:spPr>
          <a:xfrm flipH="1">
            <a:off x="3077213" y="3809121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be89de9e37_2_150"/>
          <p:cNvSpPr/>
          <p:nvPr/>
        </p:nvSpPr>
        <p:spPr>
          <a:xfrm flipH="1">
            <a:off x="4082600" y="3809121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be89de9e37_2_150"/>
          <p:cNvSpPr txBox="1"/>
          <p:nvPr/>
        </p:nvSpPr>
        <p:spPr>
          <a:xfrm>
            <a:off x="310081" y="262518"/>
            <a:ext cx="915757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KubeFlash's Revolutionary KFNative™ Technology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e89de9e37_2_245"/>
          <p:cNvSpPr txBox="1"/>
          <p:nvPr>
            <p:ph idx="4294967295" type="title"/>
          </p:nvPr>
        </p:nvSpPr>
        <p:spPr>
          <a:xfrm>
            <a:off x="3250083" y="1016944"/>
            <a:ext cx="5644515" cy="10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Case Study of</a:t>
            </a:r>
            <a:br>
              <a:rPr lang="en" sz="2500">
                <a:latin typeface="Oswald"/>
                <a:ea typeface="Oswald"/>
                <a:cs typeface="Oswald"/>
                <a:sym typeface="Oswald"/>
              </a:rPr>
            </a:br>
            <a:r>
              <a:rPr lang="en" sz="25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Streaming Computing during LLM Inference </a:t>
            </a:r>
            <a:endParaRPr sz="25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50" name="Google Shape;450;g3be89de9e37_2_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200" y="901200"/>
            <a:ext cx="2410586" cy="3985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be89de9e37_2_245"/>
          <p:cNvSpPr txBox="1"/>
          <p:nvPr/>
        </p:nvSpPr>
        <p:spPr>
          <a:xfrm>
            <a:off x="3425259" y="2061876"/>
            <a:ext cx="5328313" cy="24295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GPT-3 175B, 96 layer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Each layer ~1.8B, 3.6G Bytes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Gen</a:t>
            </a: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x16 SSD bandwidth ~ 100GB/s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Model loading time for one layer: 3.6/100 </a:t>
            </a:r>
            <a:r>
              <a:rPr b="0" i="0" lang="en" sz="2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~ 35ms</a:t>
            </a:r>
            <a:endParaRPr b="0" i="0" sz="2000" u="none" cap="none" strike="noStrike">
              <a:solidFill>
                <a:srgbClr val="E91D63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Computing: 100K x 1.8B / 1000 T </a:t>
            </a:r>
            <a:r>
              <a:rPr b="0" i="0" lang="en" sz="2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~ 180ms</a:t>
            </a:r>
            <a:endParaRPr b="0" i="0" sz="2000" u="none" cap="none" strike="noStrike">
              <a:solidFill>
                <a:srgbClr val="E91D6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2" name="Google Shape;452;g3be89de9e37_2_245"/>
          <p:cNvSpPr txBox="1"/>
          <p:nvPr/>
        </p:nvSpPr>
        <p:spPr>
          <a:xfrm>
            <a:off x="169195" y="806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3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Comparable Performance with Far Fewer GPUs 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g3be89de9e37_2_245"/>
          <p:cNvCxnSpPr/>
          <p:nvPr/>
        </p:nvCxnSpPr>
        <p:spPr>
          <a:xfrm>
            <a:off x="3577927" y="1992546"/>
            <a:ext cx="4953000" cy="734"/>
          </a:xfrm>
          <a:prstGeom prst="straightConnector1">
            <a:avLst/>
          </a:prstGeom>
          <a:noFill/>
          <a:ln cap="flat" cmpd="sng" w="28575">
            <a:solidFill>
              <a:srgbClr val="E91D6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e89de9e37_2_196"/>
          <p:cNvSpPr txBox="1"/>
          <p:nvPr>
            <p:ph idx="4294967295" type="title"/>
          </p:nvPr>
        </p:nvSpPr>
        <p:spPr>
          <a:xfrm>
            <a:off x="169195" y="806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GPU Server Ring Extension</a:t>
            </a:r>
            <a:endParaRPr b="1" sz="3000">
              <a:solidFill>
                <a:srgbClr val="E91D6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9" name="Google Shape;459;g3be89de9e37_2_196"/>
          <p:cNvSpPr/>
          <p:nvPr/>
        </p:nvSpPr>
        <p:spPr>
          <a:xfrm>
            <a:off x="637850" y="3400775"/>
            <a:ext cx="4746300" cy="4743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E91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PCIE Switch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" name="Google Shape;460;g3be89de9e37_2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251" y="4114358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1" name="Google Shape;461;g3be89de9e37_2_196"/>
          <p:cNvCxnSpPr/>
          <p:nvPr/>
        </p:nvCxnSpPr>
        <p:spPr>
          <a:xfrm flipH="1" rot="10800000">
            <a:off x="1554926" y="39087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g3be89de9e37_2_196"/>
          <p:cNvCxnSpPr/>
          <p:nvPr/>
        </p:nvCxnSpPr>
        <p:spPr>
          <a:xfrm flipH="1" rot="10800000">
            <a:off x="2046607" y="39050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3" name="Google Shape;463;g3be89de9e37_2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0635" y="41664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" name="Google Shape;464;g3be89de9e37_2_196"/>
          <p:cNvCxnSpPr/>
          <p:nvPr/>
        </p:nvCxnSpPr>
        <p:spPr>
          <a:xfrm flipH="1" rot="10800000">
            <a:off x="2560310" y="39087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g3be89de9e37_2_196"/>
          <p:cNvCxnSpPr/>
          <p:nvPr/>
        </p:nvCxnSpPr>
        <p:spPr>
          <a:xfrm flipH="1" rot="10800000">
            <a:off x="3051991" y="39050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6" name="Google Shape;466;g3be89de9e37_2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9407" y="41700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g3be89de9e37_2_196"/>
          <p:cNvCxnSpPr/>
          <p:nvPr/>
        </p:nvCxnSpPr>
        <p:spPr>
          <a:xfrm flipH="1" rot="10800000">
            <a:off x="3519082" y="39123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g3be89de9e37_2_196"/>
          <p:cNvCxnSpPr/>
          <p:nvPr/>
        </p:nvCxnSpPr>
        <p:spPr>
          <a:xfrm flipH="1" rot="10800000">
            <a:off x="4010763" y="390872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9" name="Google Shape;469;g3be89de9e37_2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4790" y="41700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0" name="Google Shape;470;g3be89de9e37_2_196"/>
          <p:cNvCxnSpPr/>
          <p:nvPr/>
        </p:nvCxnSpPr>
        <p:spPr>
          <a:xfrm flipH="1" rot="10800000">
            <a:off x="4524465" y="39123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g3be89de9e37_2_196"/>
          <p:cNvCxnSpPr/>
          <p:nvPr/>
        </p:nvCxnSpPr>
        <p:spPr>
          <a:xfrm flipH="1" rot="10800000">
            <a:off x="5016146" y="390872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g3be89de9e37_2_196"/>
          <p:cNvSpPr/>
          <p:nvPr/>
        </p:nvSpPr>
        <p:spPr>
          <a:xfrm>
            <a:off x="640800" y="1018338"/>
            <a:ext cx="4937100" cy="1736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" name="Google Shape;473;g3be89de9e37_2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1554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be89de9e37_2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3629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be89de9e37_2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704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be89de9e37_2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1079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3be89de9e37_2_196"/>
          <p:cNvSpPr/>
          <p:nvPr/>
        </p:nvSpPr>
        <p:spPr>
          <a:xfrm flipH="1">
            <a:off x="2090754" y="3715013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be89de9e37_2_196"/>
          <p:cNvSpPr/>
          <p:nvPr/>
        </p:nvSpPr>
        <p:spPr>
          <a:xfrm flipH="1">
            <a:off x="3072837" y="3731252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be89de9e37_2_196"/>
          <p:cNvSpPr/>
          <p:nvPr/>
        </p:nvSpPr>
        <p:spPr>
          <a:xfrm flipH="1">
            <a:off x="4041413" y="3736179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be89de9e37_2_196"/>
          <p:cNvSpPr/>
          <p:nvPr/>
        </p:nvSpPr>
        <p:spPr>
          <a:xfrm>
            <a:off x="832650" y="1510522"/>
            <a:ext cx="4515600" cy="438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E91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PCIE Switch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1" name="Google Shape;481;g3be89de9e37_2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0376" y="21881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2" name="Google Shape;482;g3be89de9e37_2_196"/>
          <p:cNvCxnSpPr/>
          <p:nvPr/>
        </p:nvCxnSpPr>
        <p:spPr>
          <a:xfrm flipH="1" rot="10800000">
            <a:off x="1770051" y="19304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g3be89de9e37_2_196"/>
          <p:cNvCxnSpPr/>
          <p:nvPr/>
        </p:nvCxnSpPr>
        <p:spPr>
          <a:xfrm flipH="1" rot="10800000">
            <a:off x="2261732" y="19267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84" name="Google Shape;484;g3be89de9e37_2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5760" y="21881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5" name="Google Shape;485;g3be89de9e37_2_196"/>
          <p:cNvCxnSpPr/>
          <p:nvPr/>
        </p:nvCxnSpPr>
        <p:spPr>
          <a:xfrm flipH="1" rot="10800000">
            <a:off x="2775435" y="19304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g3be89de9e37_2_196"/>
          <p:cNvCxnSpPr/>
          <p:nvPr/>
        </p:nvCxnSpPr>
        <p:spPr>
          <a:xfrm flipH="1" rot="10800000">
            <a:off x="3267116" y="19267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87" name="Google Shape;487;g3be89de9e37_2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4532" y="21917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g3be89de9e37_2_196"/>
          <p:cNvCxnSpPr/>
          <p:nvPr/>
        </p:nvCxnSpPr>
        <p:spPr>
          <a:xfrm flipH="1" rot="10800000">
            <a:off x="3734207" y="19340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g3be89de9e37_2_196"/>
          <p:cNvCxnSpPr/>
          <p:nvPr/>
        </p:nvCxnSpPr>
        <p:spPr>
          <a:xfrm flipH="1" rot="10800000">
            <a:off x="4225888" y="193042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90" name="Google Shape;490;g3be89de9e37_2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9915" y="21917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1" name="Google Shape;491;g3be89de9e37_2_196"/>
          <p:cNvCxnSpPr/>
          <p:nvPr/>
        </p:nvCxnSpPr>
        <p:spPr>
          <a:xfrm flipH="1" rot="10800000">
            <a:off x="4739590" y="19340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g3be89de9e37_2_196"/>
          <p:cNvCxnSpPr/>
          <p:nvPr/>
        </p:nvCxnSpPr>
        <p:spPr>
          <a:xfrm flipH="1" rot="10800000">
            <a:off x="1278371" y="19267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93" name="Google Shape;493;g3be89de9e37_2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6679" y="21463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g3be89de9e37_2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8754" y="21463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g3be89de9e37_2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0829" y="21463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3be89de9e37_2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1304" y="2202038"/>
            <a:ext cx="241125" cy="41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be89de9e37_2_196"/>
          <p:cNvSpPr/>
          <p:nvPr/>
        </p:nvSpPr>
        <p:spPr>
          <a:xfrm>
            <a:off x="2808566" y="1807018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be89de9e37_2_196"/>
          <p:cNvSpPr/>
          <p:nvPr/>
        </p:nvSpPr>
        <p:spPr>
          <a:xfrm>
            <a:off x="3758837" y="1807552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be89de9e37_2_196"/>
          <p:cNvSpPr/>
          <p:nvPr/>
        </p:nvSpPr>
        <p:spPr>
          <a:xfrm rot="-5400000">
            <a:off x="304875" y="2903850"/>
            <a:ext cx="1621800" cy="4554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50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be89de9e37_2_196"/>
          <p:cNvSpPr/>
          <p:nvPr/>
        </p:nvSpPr>
        <p:spPr>
          <a:xfrm>
            <a:off x="1803192" y="1778784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be89de9e37_2_196"/>
          <p:cNvSpPr/>
          <p:nvPr/>
        </p:nvSpPr>
        <p:spPr>
          <a:xfrm rot="5400000">
            <a:off x="3770350" y="2841150"/>
            <a:ext cx="2616000" cy="4554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60848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be89de9e37_2_196"/>
          <p:cNvSpPr/>
          <p:nvPr/>
        </p:nvSpPr>
        <p:spPr>
          <a:xfrm>
            <a:off x="522150" y="3040425"/>
            <a:ext cx="5136600" cy="1736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74EA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be89de9e37_2_196"/>
          <p:cNvSpPr txBox="1"/>
          <p:nvPr/>
        </p:nvSpPr>
        <p:spPr>
          <a:xfrm>
            <a:off x="5913733" y="1189092"/>
            <a:ext cx="2852100" cy="28337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Commodity GPU, less HBM dependency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No NVlink dependency 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Better parallelism All/All Ring reduce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Train largest LLM with </a:t>
            </a:r>
            <a:r>
              <a:rPr b="1" i="0" lang="en" sz="3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64X</a:t>
            </a: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 fewer GPUs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e89de9e37_2_78"/>
          <p:cNvSpPr txBox="1"/>
          <p:nvPr/>
        </p:nvSpPr>
        <p:spPr>
          <a:xfrm>
            <a:off x="310081" y="262518"/>
            <a:ext cx="915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KubeFlash </a:t>
            </a:r>
            <a:r>
              <a:rPr b="1" lang="en" sz="2200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enable large scale training with low cost GPU or Alternative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be89de9e37_2_78"/>
          <p:cNvSpPr/>
          <p:nvPr/>
        </p:nvSpPr>
        <p:spPr>
          <a:xfrm>
            <a:off x="6703165" y="1147120"/>
            <a:ext cx="541500" cy="2808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E91D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white device with a fan&#10;&#10;AI-generated content may be incorrect." id="510" name="Google Shape;510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20310" y="924133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11" name="Google Shape;511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137191" y="924132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12" name="Google Shape;512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859086" y="919119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13" name="Google Shape;513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2575967" y="919118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14" name="Google Shape;514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3297862" y="924132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15" name="Google Shape;515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014743" y="924131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16" name="Google Shape;516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25323" y="1350251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17" name="Google Shape;517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142204" y="1350250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18" name="Google Shape;518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864099" y="1345237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19" name="Google Shape;519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2580980" y="1345236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0" name="Google Shape;520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3302875" y="1350250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1" name="Google Shape;521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019756" y="1350249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2" name="Google Shape;522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30336" y="1776369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3" name="Google Shape;523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147217" y="1776368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4" name="Google Shape;524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869112" y="1771355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5" name="Google Shape;525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2585993" y="1771354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6" name="Google Shape;526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3307888" y="1776368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7" name="Google Shape;527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024769" y="1776367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8" name="Google Shape;528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35349" y="2182435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9" name="Google Shape;529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152230" y="2182434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0" name="Google Shape;530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874125" y="2177421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1" name="Google Shape;531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2591006" y="2177420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2" name="Google Shape;532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3312901" y="2182434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3" name="Google Shape;533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029782" y="2182433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4" name="Google Shape;534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40362" y="2608553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5" name="Google Shape;535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157243" y="2608552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6" name="Google Shape;536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879138" y="2603539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7" name="Google Shape;537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2596019" y="2603538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8" name="Google Shape;538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3317914" y="2608552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9" name="Google Shape;539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034795" y="2608551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0" name="Google Shape;540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45375" y="3034671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1" name="Google Shape;541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162256" y="3034670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2" name="Google Shape;542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884151" y="3029657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3" name="Google Shape;543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2601032" y="3029656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4" name="Google Shape;544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3322927" y="3034670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5" name="Google Shape;545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039808" y="3034669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6" name="Google Shape;546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50389" y="3440738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7" name="Google Shape;547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167270" y="3440737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8" name="Google Shape;548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889165" y="3435724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9" name="Google Shape;549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2606046" y="3435723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0" name="Google Shape;550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3327941" y="3440737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1" name="Google Shape;551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044822" y="3440736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2" name="Google Shape;552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55402" y="3866856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3" name="Google Shape;553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172283" y="3866855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4" name="Google Shape;554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1894178" y="3861842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5" name="Google Shape;555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2611059" y="3861841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6" name="Google Shape;556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3332954" y="3866855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7" name="Google Shape;557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049835" y="3866854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8" name="Google Shape;558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731624" y="919117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9" name="Google Shape;559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736637" y="1345235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0" name="Google Shape;560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741650" y="1771353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1" name="Google Shape;561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746663" y="2177419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2" name="Google Shape;562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751676" y="2603537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3" name="Google Shape;563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756689" y="3029655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4" name="Google Shape;564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761703" y="3435722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5" name="Google Shape;565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4766716" y="3861840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6" name="Google Shape;566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5438479" y="914103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7" name="Google Shape;567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5443492" y="1340221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8" name="Google Shape;568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5448505" y="1766339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9" name="Google Shape;569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5453518" y="2172405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0" name="Google Shape;570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5458531" y="2598523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1" name="Google Shape;571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5463544" y="3024641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2" name="Google Shape;572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5468558" y="3430708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3" name="Google Shape;573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5473571" y="3856826"/>
            <a:ext cx="715673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4" name="Google Shape;574;g3be89de9e37_2_78"/>
          <p:cNvPicPr preferRelativeResize="0"/>
          <p:nvPr/>
        </p:nvPicPr>
        <p:blipFill rotWithShape="1">
          <a:blip r:embed="rId3">
            <a:alphaModFix/>
          </a:blip>
          <a:srcRect b="36778" l="37688" r="36303" t="42134"/>
          <a:stretch/>
        </p:blipFill>
        <p:spPr>
          <a:xfrm>
            <a:off x="7629801" y="1103709"/>
            <a:ext cx="715672" cy="403604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g3be89de9e37_2_78"/>
          <p:cNvSpPr txBox="1"/>
          <p:nvPr/>
        </p:nvSpPr>
        <p:spPr>
          <a:xfrm>
            <a:off x="1865992" y="4396171"/>
            <a:ext cx="568760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Data center cost is reduced </a:t>
            </a:r>
            <a:r>
              <a:rPr b="1" i="0" lang="en" sz="22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&gt;100 times</a:t>
            </a:r>
            <a:r>
              <a:rPr b="0" i="0" lang="en" sz="2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  <a:endParaRPr/>
          </a:p>
        </p:txBody>
      </p:sp>
      <p:sp>
        <p:nvSpPr>
          <p:cNvPr id="576" name="Google Shape;576;g3be89de9e37_2_78"/>
          <p:cNvSpPr txBox="1"/>
          <p:nvPr/>
        </p:nvSpPr>
        <p:spPr>
          <a:xfrm>
            <a:off x="6388708" y="1623392"/>
            <a:ext cx="2852100" cy="28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Nvidia 5090 ~ $2K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256 5090 ~$500K</a:t>
            </a: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Aggregated ~ 50 Pflops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Train any of the largest LLM </a:t>
            </a:r>
            <a:endParaRPr sz="20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Multi-Agent </a:t>
            </a: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Reinforcement</a:t>
            </a: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 Learning</a:t>
            </a:r>
            <a:endParaRPr sz="2000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be89de9e37_2_253"/>
          <p:cNvSpPr txBox="1"/>
          <p:nvPr/>
        </p:nvSpPr>
        <p:spPr>
          <a:xfrm>
            <a:off x="169195" y="806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" sz="3000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Diffusion Transformer (DiT) - Video Generation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2" name="Google Shape;582;g3be89de9e37_2_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950" y="1006363"/>
            <a:ext cx="6608674" cy="227857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g3be89de9e37_2_253"/>
          <p:cNvSpPr txBox="1"/>
          <p:nvPr>
            <p:ph idx="4294967295" type="body"/>
          </p:nvPr>
        </p:nvSpPr>
        <p:spPr>
          <a:xfrm>
            <a:off x="303588" y="3630500"/>
            <a:ext cx="63369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0A6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F60A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Inverse and Denoise process both have long computing to overlap with IO loading</a:t>
            </a:r>
            <a:endParaRPr b="1" sz="1200">
              <a:solidFill>
                <a:srgbClr val="F60A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High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 video gen requires large HBM in current approach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Kubeflash provide high quality video Gen solution with single GPU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8"/>
          <p:cNvSpPr txBox="1"/>
          <p:nvPr/>
        </p:nvSpPr>
        <p:spPr>
          <a:xfrm>
            <a:off x="140113" y="-9815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KubeFlash </a:t>
            </a:r>
            <a:r>
              <a:rPr b="0" i="0" lang="en" sz="3000" u="none" cap="none" strike="noStrike">
                <a:solidFill>
                  <a:srgbClr val="424242"/>
                </a:solidFill>
                <a:latin typeface="Oswald"/>
                <a:ea typeface="Oswald"/>
                <a:cs typeface="Oswald"/>
                <a:sym typeface="Oswald"/>
              </a:rPr>
              <a:t>integrating with any platform with ease</a:t>
            </a:r>
            <a:endParaRPr b="0" i="0" sz="3000" u="none" cap="none" strike="noStrike">
              <a:solidFill>
                <a:srgbClr val="42424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89" name="Google Shape;5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25" y="1381325"/>
            <a:ext cx="2033200" cy="149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4475" y="1534200"/>
            <a:ext cx="1787600" cy="4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4475" y="2143800"/>
            <a:ext cx="1787600" cy="4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8"/>
          <p:cNvPicPr preferRelativeResize="0"/>
          <p:nvPr/>
        </p:nvPicPr>
        <p:blipFill rotWithShape="1">
          <a:blip r:embed="rId5">
            <a:alphaModFix/>
          </a:blip>
          <a:srcRect b="30501" l="23529" r="24790" t="33333"/>
          <a:stretch/>
        </p:blipFill>
        <p:spPr>
          <a:xfrm>
            <a:off x="5065750" y="1381325"/>
            <a:ext cx="2238074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8"/>
          <p:cNvPicPr preferRelativeResize="0"/>
          <p:nvPr/>
        </p:nvPicPr>
        <p:blipFill rotWithShape="1">
          <a:blip r:embed="rId5">
            <a:alphaModFix/>
          </a:blip>
          <a:srcRect b="30501" l="23529" r="24790" t="33333"/>
          <a:stretch/>
        </p:blipFill>
        <p:spPr>
          <a:xfrm>
            <a:off x="5065750" y="1762325"/>
            <a:ext cx="2238074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8"/>
          <p:cNvPicPr preferRelativeResize="0"/>
          <p:nvPr/>
        </p:nvPicPr>
        <p:blipFill rotWithShape="1">
          <a:blip r:embed="rId5">
            <a:alphaModFix/>
          </a:blip>
          <a:srcRect b="30501" l="23529" r="24790" t="33333"/>
          <a:stretch/>
        </p:blipFill>
        <p:spPr>
          <a:xfrm>
            <a:off x="5065750" y="2295725"/>
            <a:ext cx="2238074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15326" y="3130125"/>
            <a:ext cx="884074" cy="7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58375" y="3277838"/>
            <a:ext cx="884075" cy="482767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8"/>
          <p:cNvSpPr/>
          <p:nvPr/>
        </p:nvSpPr>
        <p:spPr>
          <a:xfrm>
            <a:off x="2727775" y="3130125"/>
            <a:ext cx="2620500" cy="863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"/>
          <p:cNvSpPr/>
          <p:nvPr/>
        </p:nvSpPr>
        <p:spPr>
          <a:xfrm rot="-2700000">
            <a:off x="5420511" y="3009556"/>
            <a:ext cx="1013991" cy="28086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60A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8"/>
          <p:cNvSpPr/>
          <p:nvPr/>
        </p:nvSpPr>
        <p:spPr>
          <a:xfrm rot="-8100000">
            <a:off x="1663887" y="3060938"/>
            <a:ext cx="1025022" cy="316925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60A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8"/>
          <p:cNvSpPr txBox="1"/>
          <p:nvPr>
            <p:ph idx="4294967295" type="body"/>
          </p:nvPr>
        </p:nvSpPr>
        <p:spPr>
          <a:xfrm>
            <a:off x="504900" y="4220725"/>
            <a:ext cx="63369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0A6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F60A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PCIE fabric could turn any server platform into high performance cluster</a:t>
            </a:r>
            <a:endParaRPr b="1" sz="1200">
              <a:solidFill>
                <a:srgbClr val="F60A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All Flash Array built from standard off shelf components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Converged and native SSD performance across  cluster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1" name="Google Shape;60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57675" y="878875"/>
            <a:ext cx="487550" cy="4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70575" y="903487"/>
            <a:ext cx="1092657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39401" y="958225"/>
            <a:ext cx="715475" cy="37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31050" y="986766"/>
            <a:ext cx="948900" cy="27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56125" y="933925"/>
            <a:ext cx="673979" cy="37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9"/>
          <p:cNvGrpSpPr/>
          <p:nvPr/>
        </p:nvGrpSpPr>
        <p:grpSpPr>
          <a:xfrm>
            <a:off x="4644087" y="1863933"/>
            <a:ext cx="2296578" cy="1892339"/>
            <a:chOff x="2991269" y="1153325"/>
            <a:chExt cx="3514811" cy="3252002"/>
          </a:xfrm>
        </p:grpSpPr>
        <p:sp>
          <p:nvSpPr>
            <p:cNvPr id="611" name="Google Shape;611;p9"/>
            <p:cNvSpPr/>
            <p:nvPr/>
          </p:nvSpPr>
          <p:spPr>
            <a:xfrm>
              <a:off x="3477586" y="2585458"/>
              <a:ext cx="2541910" cy="950456"/>
            </a:xfrm>
            <a:custGeom>
              <a:rect b="b" l="l" r="r" t="t"/>
              <a:pathLst>
                <a:path extrusionOk="0" h="43529" w="126826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612" name="Google Shape;612;p9"/>
            <p:cNvSpPr/>
            <p:nvPr/>
          </p:nvSpPr>
          <p:spPr>
            <a:xfrm>
              <a:off x="2991269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  <p:sp>
          <p:nvSpPr>
            <p:cNvPr id="613" name="Google Shape;613;p9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  <p:sp>
          <p:nvSpPr>
            <p:cNvPr id="614" name="Google Shape;614;p9"/>
            <p:cNvSpPr/>
            <p:nvPr/>
          </p:nvSpPr>
          <p:spPr>
            <a:xfrm>
              <a:off x="3969199" y="2001324"/>
              <a:ext cx="1565850" cy="585863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615" name="Google Shape;615;p9"/>
            <p:cNvSpPr/>
            <p:nvPr/>
          </p:nvSpPr>
          <p:spPr>
            <a:xfrm>
              <a:off x="356325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  <p:sp>
          <p:nvSpPr>
            <p:cNvPr id="616" name="Google Shape;616;p9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  <p:sp>
          <p:nvSpPr>
            <p:cNvPr id="617" name="Google Shape;617;p9"/>
            <p:cNvSpPr/>
            <p:nvPr/>
          </p:nvSpPr>
          <p:spPr>
            <a:xfrm>
              <a:off x="4059061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  <p:sp>
          <p:nvSpPr>
            <p:cNvPr id="618" name="Google Shape;618;p9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</p:grpSp>
      <p:sp>
        <p:nvSpPr>
          <p:cNvPr id="619" name="Google Shape;619;p9"/>
          <p:cNvSpPr txBox="1"/>
          <p:nvPr>
            <p:ph idx="4294967295" type="title"/>
          </p:nvPr>
        </p:nvSpPr>
        <p:spPr>
          <a:xfrm>
            <a:off x="135270" y="1812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4"/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KubeFlash 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Computing infrastructure evolving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4"/>
              <a:buNone/>
            </a:pPr>
            <a:r>
              <a:t/>
            </a:r>
            <a:endParaRPr sz="3000">
              <a:solidFill>
                <a:srgbClr val="F60A6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20" name="Google Shape;6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675" y="1821800"/>
            <a:ext cx="487550" cy="4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3250" y="2539187"/>
            <a:ext cx="1092657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039" y="2066675"/>
            <a:ext cx="715475" cy="37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2725" y="4048650"/>
            <a:ext cx="646800" cy="4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90071" y="4064821"/>
            <a:ext cx="352050" cy="40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2674" y="2260113"/>
            <a:ext cx="487550" cy="3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29475" y="3502700"/>
            <a:ext cx="586176" cy="4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9"/>
          <p:cNvSpPr/>
          <p:nvPr/>
        </p:nvSpPr>
        <p:spPr>
          <a:xfrm>
            <a:off x="326825" y="1626400"/>
            <a:ext cx="1929600" cy="1726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B45F0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9"/>
          <p:cNvSpPr/>
          <p:nvPr/>
        </p:nvSpPr>
        <p:spPr>
          <a:xfrm>
            <a:off x="326825" y="3973375"/>
            <a:ext cx="1929600" cy="58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27BA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9"/>
          <p:cNvSpPr/>
          <p:nvPr/>
        </p:nvSpPr>
        <p:spPr>
          <a:xfrm>
            <a:off x="2414774" y="2416223"/>
            <a:ext cx="586200" cy="227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783F0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9"/>
          <p:cNvSpPr/>
          <p:nvPr/>
        </p:nvSpPr>
        <p:spPr>
          <a:xfrm rot="-2700000">
            <a:off x="2246276" y="3936535"/>
            <a:ext cx="923199" cy="243528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C27BA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9"/>
          <p:cNvSpPr/>
          <p:nvPr/>
        </p:nvSpPr>
        <p:spPr>
          <a:xfrm>
            <a:off x="3044175" y="1863925"/>
            <a:ext cx="1070700" cy="245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9"/>
          <p:cNvSpPr/>
          <p:nvPr/>
        </p:nvSpPr>
        <p:spPr>
          <a:xfrm>
            <a:off x="4319774" y="2644823"/>
            <a:ext cx="586200" cy="227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7376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9"/>
          <p:cNvSpPr txBox="1"/>
          <p:nvPr/>
        </p:nvSpPr>
        <p:spPr>
          <a:xfrm>
            <a:off x="5137650" y="3680075"/>
            <a:ext cx="14859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KubeFlash 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p9"/>
          <p:cNvGrpSpPr/>
          <p:nvPr/>
        </p:nvGrpSpPr>
        <p:grpSpPr>
          <a:xfrm>
            <a:off x="6513600" y="3089638"/>
            <a:ext cx="3058585" cy="1384500"/>
            <a:chOff x="5838531" y="2598925"/>
            <a:chExt cx="2669155" cy="1384500"/>
          </a:xfrm>
        </p:grpSpPr>
        <p:cxnSp>
          <p:nvCxnSpPr>
            <p:cNvPr id="635" name="Google Shape;635;p9"/>
            <p:cNvCxnSpPr/>
            <p:nvPr/>
          </p:nvCxnSpPr>
          <p:spPr>
            <a:xfrm>
              <a:off x="5838531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6" name="Google Shape;636;p9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Lattice PCIE Fabric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Flash Array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7" name="Google Shape;637;p9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9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0" i="0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9" name="Google Shape;639;p9"/>
          <p:cNvGrpSpPr/>
          <p:nvPr/>
        </p:nvGrpSpPr>
        <p:grpSpPr>
          <a:xfrm>
            <a:off x="6332950" y="1943725"/>
            <a:ext cx="2829985" cy="1384500"/>
            <a:chOff x="6038025" y="2598925"/>
            <a:chExt cx="2469661" cy="1384500"/>
          </a:xfrm>
        </p:grpSpPr>
        <p:cxnSp>
          <p:nvCxnSpPr>
            <p:cNvPr id="640" name="Google Shape;640;p9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1" name="Google Shape;641;p9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lang="en" sz="1300">
                  <a:latin typeface="Roboto"/>
                  <a:ea typeface="Roboto"/>
                  <a:cs typeface="Roboto"/>
                  <a:sym typeface="Roboto"/>
                </a:rPr>
                <a:t>Tier0 NFS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Native NVME  VM/Kubernetes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2" name="Google Shape;642;p9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9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0" i="0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44" name="Google Shape;644;p9"/>
          <p:cNvCxnSpPr/>
          <p:nvPr/>
        </p:nvCxnSpPr>
        <p:spPr>
          <a:xfrm rot="10800000">
            <a:off x="6174018" y="3493084"/>
            <a:ext cx="310800" cy="304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5" name="Google Shape;645;p9"/>
          <p:cNvGrpSpPr/>
          <p:nvPr/>
        </p:nvGrpSpPr>
        <p:grpSpPr>
          <a:xfrm>
            <a:off x="6409150" y="876925"/>
            <a:ext cx="2829985" cy="1384500"/>
            <a:chOff x="6038025" y="2598925"/>
            <a:chExt cx="2469661" cy="1384500"/>
          </a:xfrm>
        </p:grpSpPr>
        <p:cxnSp>
          <p:nvCxnSpPr>
            <p:cNvPr id="646" name="Google Shape;646;p9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7" name="Google Shape;647;p9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KV Cache, KFnative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lang="en" sz="1300">
                  <a:latin typeface="Roboto"/>
                  <a:ea typeface="Roboto"/>
                  <a:cs typeface="Roboto"/>
                  <a:sym typeface="Roboto"/>
                </a:rPr>
                <a:t>Vector DB</a:t>
              </a:r>
              <a:r>
                <a:rPr b="1" i="0" lang="en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1" sz="13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lang="en" sz="1300">
                  <a:latin typeface="Roboto"/>
                  <a:ea typeface="Roboto"/>
                  <a:cs typeface="Roboto"/>
                  <a:sym typeface="Roboto"/>
                </a:rPr>
                <a:t>Tightly coupled GPU/SSD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8" name="Google Shape;648;p9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9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50" name="Google Shape;650;p9"/>
          <p:cNvCxnSpPr/>
          <p:nvPr/>
        </p:nvCxnSpPr>
        <p:spPr>
          <a:xfrm flipH="1" rot="10800000">
            <a:off x="5917075" y="1621000"/>
            <a:ext cx="507000" cy="6285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1" name="Google Shape;651;p9"/>
          <p:cNvSpPr txBox="1"/>
          <p:nvPr/>
        </p:nvSpPr>
        <p:spPr>
          <a:xfrm>
            <a:off x="593475" y="1224325"/>
            <a:ext cx="160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Traditional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9"/>
          <p:cNvSpPr txBox="1"/>
          <p:nvPr/>
        </p:nvSpPr>
        <p:spPr>
          <a:xfrm>
            <a:off x="593475" y="3586525"/>
            <a:ext cx="160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Traditional AFA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9"/>
          <p:cNvSpPr txBox="1"/>
          <p:nvPr/>
        </p:nvSpPr>
        <p:spPr>
          <a:xfrm>
            <a:off x="3262575" y="1224325"/>
            <a:ext cx="58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9"/>
          <p:cNvSpPr txBox="1"/>
          <p:nvPr/>
        </p:nvSpPr>
        <p:spPr>
          <a:xfrm>
            <a:off x="5319975" y="1224325"/>
            <a:ext cx="8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HCI 2.0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9"/>
          <p:cNvSpPr txBox="1"/>
          <p:nvPr/>
        </p:nvSpPr>
        <p:spPr>
          <a:xfrm>
            <a:off x="3031875" y="4348525"/>
            <a:ext cx="160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AFA NVMEoF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9"/>
          <p:cNvSpPr txBox="1"/>
          <p:nvPr/>
        </p:nvSpPr>
        <p:spPr>
          <a:xfrm>
            <a:off x="5165475" y="4348525"/>
            <a:ext cx="160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AFA Native NVME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0"/>
          <p:cNvSpPr txBox="1"/>
          <p:nvPr>
            <p:ph idx="4294967295" type="title"/>
          </p:nvPr>
        </p:nvSpPr>
        <p:spPr>
          <a:xfrm>
            <a:off x="135270" y="1812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Oswald"/>
                <a:ea typeface="Oswald"/>
                <a:cs typeface="Oswald"/>
                <a:sym typeface="Oswald"/>
              </a:rPr>
              <a:t>Market Segments for </a:t>
            </a:r>
            <a:r>
              <a:rPr lang="en" sz="30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KubeFlash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662" name="Google Shape;6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2786" y="1837516"/>
            <a:ext cx="646800" cy="4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0231" y="1812886"/>
            <a:ext cx="352050" cy="40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4449" y="1962338"/>
            <a:ext cx="487550" cy="3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3285" y="2375503"/>
            <a:ext cx="586176" cy="4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0"/>
          <p:cNvSpPr/>
          <p:nvPr/>
        </p:nvSpPr>
        <p:spPr>
          <a:xfrm>
            <a:off x="1213350" y="3494250"/>
            <a:ext cx="2116200" cy="1054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0A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0"/>
          <p:cNvSpPr/>
          <p:nvPr/>
        </p:nvSpPr>
        <p:spPr>
          <a:xfrm>
            <a:off x="1421048" y="1723652"/>
            <a:ext cx="1415700" cy="1313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0"/>
          <p:cNvSpPr txBox="1"/>
          <p:nvPr/>
        </p:nvSpPr>
        <p:spPr>
          <a:xfrm>
            <a:off x="1449601" y="849960"/>
            <a:ext cx="160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Flash Array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0"/>
          <p:cNvSpPr txBox="1"/>
          <p:nvPr/>
        </p:nvSpPr>
        <p:spPr>
          <a:xfrm>
            <a:off x="6299501" y="903550"/>
            <a:ext cx="21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 &amp; Data Analytics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0"/>
          <p:cNvSpPr txBox="1"/>
          <p:nvPr/>
        </p:nvSpPr>
        <p:spPr>
          <a:xfrm>
            <a:off x="1723960" y="1230901"/>
            <a:ext cx="71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~ 25B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0"/>
          <p:cNvSpPr txBox="1"/>
          <p:nvPr/>
        </p:nvSpPr>
        <p:spPr>
          <a:xfrm>
            <a:off x="81345" y="1230901"/>
            <a:ext cx="132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Market Size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0"/>
          <p:cNvSpPr txBox="1"/>
          <p:nvPr/>
        </p:nvSpPr>
        <p:spPr>
          <a:xfrm>
            <a:off x="85439" y="2077639"/>
            <a:ext cx="132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Major Player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0"/>
          <p:cNvSpPr txBox="1"/>
          <p:nvPr/>
        </p:nvSpPr>
        <p:spPr>
          <a:xfrm>
            <a:off x="129981" y="3618717"/>
            <a:ext cx="132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60A61"/>
                </a:solidFill>
                <a:latin typeface="Roboto"/>
                <a:ea typeface="Roboto"/>
                <a:cs typeface="Roboto"/>
                <a:sym typeface="Roboto"/>
              </a:rPr>
              <a:t>KubeFlash</a:t>
            </a:r>
            <a:endParaRPr b="1" i="0" sz="1100" u="none" cap="none" strike="noStrike">
              <a:solidFill>
                <a:srgbClr val="F60A6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10"/>
          <p:cNvSpPr txBox="1"/>
          <p:nvPr/>
        </p:nvSpPr>
        <p:spPr>
          <a:xfrm>
            <a:off x="1213356" y="3594525"/>
            <a:ext cx="2116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Off-the-Shelf components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Utilizing server from any vendor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High performance and low  CPU utilization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5" name="Google Shape;67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2375" y="2150038"/>
            <a:ext cx="745088" cy="7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0"/>
          <p:cNvSpPr/>
          <p:nvPr/>
        </p:nvSpPr>
        <p:spPr>
          <a:xfrm>
            <a:off x="3960706" y="1723652"/>
            <a:ext cx="1415700" cy="1313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0"/>
          <p:cNvSpPr txBox="1"/>
          <p:nvPr/>
        </p:nvSpPr>
        <p:spPr>
          <a:xfrm>
            <a:off x="3774101" y="876935"/>
            <a:ext cx="160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HCI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0"/>
          <p:cNvSpPr txBox="1"/>
          <p:nvPr/>
        </p:nvSpPr>
        <p:spPr>
          <a:xfrm>
            <a:off x="4262716" y="1241349"/>
            <a:ext cx="71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~ 15B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0"/>
          <p:cNvSpPr txBox="1"/>
          <p:nvPr/>
        </p:nvSpPr>
        <p:spPr>
          <a:xfrm>
            <a:off x="3690461" y="3564899"/>
            <a:ext cx="2116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Native local NVME performance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Power efficient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Revolutionary all flash solution for Kubernetes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10"/>
          <p:cNvSpPr/>
          <p:nvPr/>
        </p:nvSpPr>
        <p:spPr>
          <a:xfrm>
            <a:off x="3610448" y="3468275"/>
            <a:ext cx="2116200" cy="1054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0A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0"/>
          <p:cNvSpPr txBox="1"/>
          <p:nvPr/>
        </p:nvSpPr>
        <p:spPr>
          <a:xfrm>
            <a:off x="6707108" y="1231964"/>
            <a:ext cx="71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Billions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0"/>
          <p:cNvSpPr txBox="1"/>
          <p:nvPr/>
        </p:nvSpPr>
        <p:spPr>
          <a:xfrm>
            <a:off x="6234955" y="3457042"/>
            <a:ext cx="2116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Converged SSD/Memory Caching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Native NVME throughput for KV cach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Boosting data analytics with native flash storage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10"/>
          <p:cNvSpPr/>
          <p:nvPr/>
        </p:nvSpPr>
        <p:spPr>
          <a:xfrm>
            <a:off x="6074179" y="3468285"/>
            <a:ext cx="2116200" cy="1054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0A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p10"/>
          <p:cNvCxnSpPr/>
          <p:nvPr/>
        </p:nvCxnSpPr>
        <p:spPr>
          <a:xfrm flipH="1" rot="10800000">
            <a:off x="128075" y="849375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p10"/>
          <p:cNvCxnSpPr/>
          <p:nvPr/>
        </p:nvCxnSpPr>
        <p:spPr>
          <a:xfrm flipH="1" rot="10800000">
            <a:off x="128075" y="1563879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p10"/>
          <p:cNvCxnSpPr/>
          <p:nvPr/>
        </p:nvCxnSpPr>
        <p:spPr>
          <a:xfrm flipH="1" rot="10800000">
            <a:off x="183450" y="3245913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7" name="Google Shape;687;p10"/>
          <p:cNvSpPr txBox="1"/>
          <p:nvPr/>
        </p:nvSpPr>
        <p:spPr>
          <a:xfrm>
            <a:off x="6500340" y="2150059"/>
            <a:ext cx="21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Many Players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3"/>
          <p:cNvSpPr txBox="1"/>
          <p:nvPr>
            <p:ph type="title"/>
          </p:nvPr>
        </p:nvSpPr>
        <p:spPr>
          <a:xfrm>
            <a:off x="311700" y="392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Founding Team</a:t>
            </a:r>
            <a:endParaRPr/>
          </a:p>
        </p:txBody>
      </p:sp>
      <p:sp>
        <p:nvSpPr>
          <p:cNvPr id="693" name="Google Shape;693;p13"/>
          <p:cNvSpPr txBox="1"/>
          <p:nvPr>
            <p:ph idx="1" type="body"/>
          </p:nvPr>
        </p:nvSpPr>
        <p:spPr>
          <a:xfrm>
            <a:off x="1768775" y="725925"/>
            <a:ext cx="65649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Wei Zhou, worked in Storage industry for over 20 years, h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ave held senior management position at Marvell and SK hynix,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leading teams in storage HW/FW/system engineering. Master degree of Applied Physics from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Stanford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500"/>
          </a:p>
        </p:txBody>
      </p:sp>
      <p:pic>
        <p:nvPicPr>
          <p:cNvPr id="694" name="Google Shape;6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725" y="738600"/>
            <a:ext cx="1012625" cy="10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13"/>
          <p:cNvSpPr txBox="1"/>
          <p:nvPr>
            <p:ph idx="1" type="body"/>
          </p:nvPr>
        </p:nvSpPr>
        <p:spPr>
          <a:xfrm>
            <a:off x="1768775" y="2666725"/>
            <a:ext cx="65649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K. Wong，have worked in various fields in storage, have broad experience in SSD FW engineering and linux kernel engineering, have held principle engineer positions at Marvell and Sk Hynix </a:t>
            </a:r>
            <a:endParaRPr sz="1500"/>
          </a:p>
        </p:txBody>
      </p:sp>
      <p:sp>
        <p:nvSpPr>
          <p:cNvPr id="696" name="Google Shape;696;p13"/>
          <p:cNvSpPr txBox="1"/>
          <p:nvPr>
            <p:ph idx="1" type="body"/>
          </p:nvPr>
        </p:nvSpPr>
        <p:spPr>
          <a:xfrm>
            <a:off x="1733450" y="3900198"/>
            <a:ext cx="65649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X. Chen，20 years plus experience in storage industry, strong kernel and OS engineering expertise, have held various engineering and management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positions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at Marvell and  Startups</a:t>
            </a:r>
            <a:endParaRPr sz="1500"/>
          </a:p>
        </p:txBody>
      </p:sp>
      <p:sp>
        <p:nvSpPr>
          <p:cNvPr id="697" name="Google Shape;697;p13"/>
          <p:cNvSpPr txBox="1"/>
          <p:nvPr/>
        </p:nvSpPr>
        <p:spPr>
          <a:xfrm>
            <a:off x="1768775" y="1797150"/>
            <a:ext cx="6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David Chen,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